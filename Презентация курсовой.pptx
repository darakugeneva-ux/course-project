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88" r:id="rId2"/>
    <p:sldId id="292" r:id="rId3"/>
    <p:sldId id="291" r:id="rId4"/>
    <p:sldId id="341" r:id="rId5"/>
    <p:sldId id="297" r:id="rId6"/>
    <p:sldId id="340" r:id="rId7"/>
    <p:sldId id="311" r:id="rId8"/>
    <p:sldId id="368" r:id="rId9"/>
    <p:sldId id="369" r:id="rId10"/>
    <p:sldId id="366" r:id="rId11"/>
    <p:sldId id="365" r:id="rId12"/>
    <p:sldId id="370" r:id="rId13"/>
    <p:sldId id="344" r:id="rId14"/>
    <p:sldId id="316" r:id="rId15"/>
    <p:sldId id="332" r:id="rId16"/>
    <p:sldId id="330" r:id="rId17"/>
    <p:sldId id="335" r:id="rId18"/>
    <p:sldId id="371" r:id="rId19"/>
    <p:sldId id="329" r:id="rId20"/>
    <p:sldId id="372" r:id="rId21"/>
    <p:sldId id="377" r:id="rId22"/>
    <p:sldId id="348" r:id="rId23"/>
    <p:sldId id="349" r:id="rId24"/>
    <p:sldId id="351" r:id="rId25"/>
    <p:sldId id="373" r:id="rId26"/>
    <p:sldId id="375" r:id="rId27"/>
    <p:sldId id="355" r:id="rId28"/>
    <p:sldId id="374" r:id="rId29"/>
    <p:sldId id="357" r:id="rId30"/>
    <p:sldId id="376" r:id="rId31"/>
    <p:sldId id="358" r:id="rId32"/>
    <p:sldId id="350" r:id="rId33"/>
    <p:sldId id="359" r:id="rId34"/>
    <p:sldId id="360" r:id="rId35"/>
    <p:sldId id="378" r:id="rId36"/>
    <p:sldId id="379" r:id="rId37"/>
    <p:sldId id="362" r:id="rId38"/>
    <p:sldId id="380" r:id="rId39"/>
    <p:sldId id="364" r:id="rId40"/>
    <p:sldId id="290" r:id="rId41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C28A6DE-7017-454E-A084-68DC268F6869}">
          <p14:sldIdLst>
            <p14:sldId id="288"/>
            <p14:sldId id="292"/>
          </p14:sldIdLst>
        </p14:section>
        <p14:section name="Табличные данные" id="{25D1F10B-6325-41AD-904C-A2CA9A92E4E8}">
          <p14:sldIdLst>
            <p14:sldId id="291"/>
            <p14:sldId id="341"/>
            <p14:sldId id="297"/>
            <p14:sldId id="340"/>
            <p14:sldId id="311"/>
            <p14:sldId id="368"/>
            <p14:sldId id="369"/>
            <p14:sldId id="366"/>
            <p14:sldId id="365"/>
            <p14:sldId id="370"/>
            <p14:sldId id="344"/>
          </p14:sldIdLst>
        </p14:section>
        <p14:section name="Временые ряды" id="{3AE7C1E3-1928-4BDB-8B2C-A89BE33DCA8B}">
          <p14:sldIdLst>
            <p14:sldId id="316"/>
            <p14:sldId id="332"/>
            <p14:sldId id="330"/>
            <p14:sldId id="335"/>
            <p14:sldId id="371"/>
            <p14:sldId id="329"/>
            <p14:sldId id="372"/>
            <p14:sldId id="377"/>
            <p14:sldId id="348"/>
          </p14:sldIdLst>
        </p14:section>
        <p14:section name="Изображения: задача и описание данных" id="{67A5B0A3-0D98-4A24-B90F-77C5BD01B8F8}">
          <p14:sldIdLst>
            <p14:sldId id="349"/>
            <p14:sldId id="351"/>
            <p14:sldId id="373"/>
            <p14:sldId id="375"/>
            <p14:sldId id="355"/>
            <p14:sldId id="374"/>
            <p14:sldId id="357"/>
            <p14:sldId id="376"/>
            <p14:sldId id="358"/>
          </p14:sldIdLst>
        </p14:section>
        <p14:section name="Текстовые данные: задача и описание данных" id="{D1283549-5167-4F11-9D70-565CEC455948}">
          <p14:sldIdLst>
            <p14:sldId id="350"/>
            <p14:sldId id="359"/>
            <p14:sldId id="360"/>
            <p14:sldId id="378"/>
            <p14:sldId id="379"/>
            <p14:sldId id="362"/>
            <p14:sldId id="380"/>
            <p14:sldId id="364"/>
          </p14:sldIdLst>
        </p14:section>
        <p14:section name="Заключение" id="{272700DB-0FD2-4669-BCE7-CC408827A34D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7F7"/>
    <a:srgbClr val="FFEFEF"/>
    <a:srgbClr val="FFE1E1"/>
    <a:srgbClr val="EFD6C3"/>
    <a:srgbClr val="8D99A7"/>
    <a:srgbClr val="DCDCDC"/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04" autoAdjust="0"/>
    <p:restoredTop sz="87791" autoAdjust="0"/>
  </p:normalViewPr>
  <p:slideViewPr>
    <p:cSldViewPr snapToGrid="0">
      <p:cViewPr varScale="1">
        <p:scale>
          <a:sx n="75" d="100"/>
          <a:sy n="75" d="100"/>
        </p:scale>
        <p:origin x="1032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784" y="72"/>
      </p:cViewPr>
      <p:guideLst/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79315C84-EE52-4AD5-8C54-DDD3E354D8A4}" type="datetimeFigureOut">
              <a:rPr lang="ru-RU"/>
              <a:pPr>
                <a:defRPr/>
              </a:pPr>
              <a:t>10.06.2026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EC040E5F-2643-45B4-A9BD-CFE6291A48B1}" type="slidenum">
              <a:rPr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68864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9D2B60AF-714F-4A51-9ED9-26D63D5F6FA8}" type="datetimeFigureOut">
              <a:rPr lang="ru-RU"/>
              <a:pPr>
                <a:defRPr/>
              </a:pPr>
              <a:t>10.06.2026</a:t>
            </a:fld>
            <a:endParaRPr lang="ru-RU"/>
          </a:p>
        </p:txBody>
      </p:sp>
      <p:sp>
        <p:nvSpPr>
          <p:cNvPr id="3076" name="Образ слайда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Заметки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7AE935F4-122E-4717-A0F2-34B38B06B6CB}" type="slidenum">
              <a:rPr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407445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7979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2566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3775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4674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E935F4-122E-4717-A0F2-34B38B06B6CB}" type="slidenum">
              <a:rPr kumimoji="0" lang="ru-RU" altLang="ru-RU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altLang="ru-RU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584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E935F4-122E-4717-A0F2-34B38B06B6CB}" type="slidenum">
              <a:rPr kumimoji="0" lang="ru-RU" altLang="ru-RU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altLang="ru-RU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76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2332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46914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94036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09884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21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23835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E935F4-122E-4717-A0F2-34B38B06B6CB}" type="slidenum">
              <a:rPr kumimoji="0" lang="ru-RU" altLang="ru-RU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ru-RU" altLang="ru-RU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377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E935F4-122E-4717-A0F2-34B38B06B6CB}" type="slidenum">
              <a:rPr kumimoji="0" lang="ru-RU" altLang="ru-RU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altLang="ru-RU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454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37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0686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001888"/>
            <a:ext cx="12192000" cy="1699260"/>
          </a:xfrm>
        </p:spPr>
        <p:txBody>
          <a:bodyPr anchor="ctr"/>
          <a:lstStyle>
            <a:lvl1pPr algn="ctr">
              <a:defRPr sz="4000" b="1">
                <a:latin typeface="+mn-lt"/>
              </a:defRPr>
            </a:lvl1pPr>
          </a:lstStyle>
          <a:p>
            <a:r>
              <a:rPr lang="ru-RU" noProof="1"/>
              <a:t>Название работы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80212"/>
            <a:ext cx="12192000" cy="365125"/>
          </a:xfrm>
        </p:spPr>
        <p:txBody>
          <a:bodyPr/>
          <a:lstStyle>
            <a:lvl1pPr algn="ctr"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 altLang="zh-CN">
                <a:cs typeface="等线"/>
              </a:rPr>
              <a:t>Челябинск, 2026 г.</a:t>
            </a:r>
            <a:endParaRPr lang="ru-RU" altLang="zh-CN" dirty="0">
              <a:cs typeface="等线"/>
            </a:endParaRPr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0" y="34832"/>
            <a:ext cx="12192000" cy="1653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457200" rtl="0" eaLnBrk="1" fontAlgn="auto" hangingPunct="1">
              <a:spcBef>
                <a:spcPct val="0"/>
              </a:spcBef>
              <a:spcAft>
                <a:spcPct val="0"/>
              </a:spcAft>
              <a:defRPr sz="1200" kern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МИНИСТЕРСТВО НАУКИ И ВЫСШЕГО ОБРАЗОВАНИЯ РОССИЙСКОЙ ФЕДЕРАЦИИ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«Южно-Уральский государственный университет (национальный исследовательский университет)»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Институт естественных и точных наук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Центр «ВиртУм»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713711"/>
            <a:ext cx="12192000" cy="565921"/>
          </a:xfrm>
        </p:spPr>
        <p:txBody>
          <a:bodyPr anchor="ctr"/>
          <a:lstStyle>
            <a:lvl1pPr marL="0" indent="0" algn="ctr">
              <a:buNone/>
              <a:defRPr sz="2400" baseline="0"/>
            </a:lvl1pPr>
          </a:lstStyle>
          <a:p>
            <a:pPr lvl="0"/>
            <a:r>
              <a:rPr lang="ru-RU" dirty="0"/>
              <a:t>Направление подготовки</a:t>
            </a:r>
          </a:p>
        </p:txBody>
      </p:sp>
      <p:sp>
        <p:nvSpPr>
          <p:cNvPr id="13" name="Текст 11"/>
          <p:cNvSpPr>
            <a:spLocks noGrp="1"/>
          </p:cNvSpPr>
          <p:nvPr>
            <p:ph type="body" sz="quarter" idx="12" hasCustomPrompt="1"/>
          </p:nvPr>
        </p:nvSpPr>
        <p:spPr>
          <a:xfrm>
            <a:off x="613317" y="4581220"/>
            <a:ext cx="4716964" cy="1652312"/>
          </a:xfrm>
        </p:spPr>
        <p:txBody>
          <a:bodyPr anchor="t"/>
          <a:lstStyle>
            <a:lvl1pPr marL="0" indent="0" algn="l">
              <a:buNone/>
              <a:defRPr sz="2400" baseline="0"/>
            </a:lvl1pPr>
          </a:lstStyle>
          <a:p>
            <a:pPr lvl="0"/>
            <a:r>
              <a:rPr lang="ru-RU" dirty="0"/>
              <a:t>Научный руководитель</a:t>
            </a: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05963" y="4581220"/>
            <a:ext cx="4813607" cy="1652312"/>
          </a:xfrm>
        </p:spPr>
        <p:txBody>
          <a:bodyPr anchor="t"/>
          <a:lstStyle>
            <a:lvl1pPr marL="0" indent="0" algn="l">
              <a:buNone/>
              <a:defRPr sz="2400" baseline="0"/>
            </a:lvl1pPr>
          </a:lstStyle>
          <a:p>
            <a:pPr lvl="0"/>
            <a:r>
              <a:rPr lang="ru-RU" dirty="0"/>
              <a:t>Автор</a:t>
            </a:r>
          </a:p>
        </p:txBody>
      </p:sp>
    </p:spTree>
    <p:extLst>
      <p:ext uri="{BB962C8B-B14F-4D97-AF65-F5344CB8AC3E}">
        <p14:creationId xmlns:p14="http://schemas.microsoft.com/office/powerpoint/2010/main" val="94428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62"/>
            <a:ext cx="12192000" cy="883809"/>
          </a:xfrm>
        </p:spPr>
        <p:txBody>
          <a:bodyPr/>
          <a:lstStyle>
            <a:lvl1pPr algn="ctr">
              <a:defRPr sz="3600" b="1">
                <a:latin typeface="+mn-lt"/>
              </a:defRPr>
            </a:lvl1pPr>
          </a:lstStyle>
          <a:p>
            <a:r>
              <a:rPr lang="ru-RU" noProof="1"/>
              <a:t>Образец заголовка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099281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  <a:endParaRPr lang="en-US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7473" y="6274415"/>
            <a:ext cx="1360446" cy="588110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  <a:cs typeface="Times New Roman" panose="02020603050405020304" pitchFamily="18" charset="0"/>
              </a:defRPr>
            </a:lvl1pPr>
          </a:lstStyle>
          <a:p>
            <a:fld id="{D063FBCF-7873-4A49-B36C-1F912BB77786}" type="slidenum">
              <a:rPr lang="ru-RU" altLang="ru-RU" smtClean="0"/>
              <a:pPr/>
              <a:t>‹#›</a:t>
            </a:fld>
            <a:r>
              <a:rPr lang="ru-RU" altLang="ru-RU" dirty="0"/>
              <a:t>/13</a:t>
            </a:r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0" y="880948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3717" y="6274415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Нижний колонтитул 4"/>
          <p:cNvSpPr txBox="1">
            <a:spLocks/>
          </p:cNvSpPr>
          <p:nvPr userDrawn="1"/>
        </p:nvSpPr>
        <p:spPr>
          <a:xfrm>
            <a:off x="-11723" y="6274413"/>
            <a:ext cx="9686977" cy="5835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200" dirty="0">
                <a:solidFill>
                  <a:schemeClr val="tx1"/>
                </a:solidFill>
              </a:rPr>
              <a:t>Курсовой проект «Поиск и первичный анализ наборов данных»</a:t>
            </a:r>
          </a:p>
        </p:txBody>
      </p:sp>
    </p:spTree>
    <p:extLst>
      <p:ext uri="{BB962C8B-B14F-4D97-AF65-F5344CB8AC3E}">
        <p14:creationId xmlns:p14="http://schemas.microsoft.com/office/powerpoint/2010/main" val="110653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  <a:endParaRPr lang="en-US" altLang="ru-RU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alt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ru-RU"/>
              <a:t>Челябинск, 2026 г.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898989"/>
                </a:solidFill>
              </a:defRPr>
            </a:lvl1pPr>
          </a:lstStyle>
          <a:p>
            <a:fld id="{908C97DF-05ED-458B-8CB7-B5CAFE458C29}" type="slidenum">
              <a:rPr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849/power+consumption+of+tetouan+city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rasunroy/natural-image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Поиск и первичный анализ наборов данных 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по различным областям применения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altLang="zh-CN">
                <a:cs typeface="等线"/>
              </a:rPr>
              <a:t>Челябинск, 2026 г.</a:t>
            </a:r>
            <a:endParaRPr lang="ru-RU" altLang="zh-CN" dirty="0">
              <a:cs typeface="等线"/>
            </a:endParaRPr>
          </a:p>
        </p:txBody>
      </p:sp>
      <p:sp>
        <p:nvSpPr>
          <p:cNvPr id="6" name="Подзаголовок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defRPr/>
            </a:pPr>
            <a:r>
              <a:rPr lang="ru-RU" altLang="zh-CN" dirty="0">
                <a:cs typeface="等线"/>
              </a:rPr>
              <a:t>09.03.04 «Программная инженерия»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/>
              <a:t>Научный руководитель: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>
                <a:cs typeface="等线"/>
              </a:rPr>
              <a:t>к.ф.-м.н., доцент центра «</a:t>
            </a:r>
            <a:r>
              <a:rPr lang="ru-RU" altLang="zh-CN" dirty="0" err="1">
                <a:cs typeface="等线"/>
              </a:rPr>
              <a:t>ВиртУм</a:t>
            </a:r>
            <a:r>
              <a:rPr lang="ru-RU" altLang="zh-CN" dirty="0">
                <a:cs typeface="等线"/>
              </a:rPr>
              <a:t>»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>
                <a:cs typeface="等线"/>
              </a:rPr>
              <a:t>Я.А. Краева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ru-RU" altLang="zh-CN" dirty="0">
                <a:cs typeface="等线"/>
              </a:rPr>
              <a:t>Автор: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ru-RU" altLang="zh-CN" dirty="0">
                <a:cs typeface="等线"/>
              </a:rPr>
              <a:t>студент группы ЕТ-141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>
                <a:cs typeface="等线"/>
              </a:rPr>
              <a:t>Д.С. Кугенева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83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Актуальность: необходимость первичного анализа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технологии искусственного интеллекта и машинного обучения прочно вошли в различные сферы человеческой деятельности. Однако успешность применения этих технологий напрямую зависит от качества исходных данных, на которых обучаются модели.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исследовании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примере задачи анализа тональности текстов было экспериментально показано, что применение базовых техник предварительной обработки текста приводит к повышению точности моделей машинного обучения в среднем на 5%.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Наборы данных могут иметь различные типы: табличные данные, временные ряды, изображения, текстовые данные. Каждый тип данных требует особого подхода к анализу, предобработке и оценке качества.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6518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Табличные данные: задача и описание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/>
            <a:r>
              <a:rPr lang="ru-RU" b="1" dirty="0"/>
              <a:t>Задача: </a:t>
            </a:r>
            <a:r>
              <a:rPr lang="ru-RU" dirty="0"/>
              <a:t>Предсказать стоимость годовой медицинской страховки </a:t>
            </a:r>
            <a:br>
              <a:rPr lang="ru-RU" dirty="0"/>
            </a:br>
            <a:r>
              <a:rPr lang="ru-RU" dirty="0"/>
              <a:t>по демографическим и медицинским показателям клиента</a:t>
            </a:r>
          </a:p>
          <a:p>
            <a:pPr marL="357188" indent="-357188"/>
            <a:r>
              <a:rPr lang="ru-RU" b="1" dirty="0"/>
              <a:t>Набор данных: 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Название, источник: </a:t>
            </a:r>
            <a:r>
              <a:rPr lang="en-US" sz="2800" dirty="0">
                <a:cs typeface="Times New Roman" panose="02020603050405020304" pitchFamily="18" charset="0"/>
              </a:rPr>
              <a:t>Medical Cost Personal Dataset</a:t>
            </a:r>
            <a:r>
              <a:rPr lang="ru-RU" sz="2800" dirty="0"/>
              <a:t>, </a:t>
            </a:r>
            <a:r>
              <a:rPr lang="en-US" sz="2800" dirty="0"/>
              <a:t>Kaggle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URL:</a:t>
            </a:r>
            <a:r>
              <a:rPr lang="ru-RU" sz="2800" dirty="0"/>
              <a:t> </a:t>
            </a:r>
            <a:r>
              <a:rPr lang="en-US" sz="2800" dirty="0"/>
              <a:t>https://www.kaggle.com/datasets/harishkumardatalab/medical-insurance-price-prediction</a:t>
            </a:r>
            <a:endParaRPr lang="ru-RU" sz="2800" dirty="0"/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Описание:</a:t>
            </a:r>
            <a:r>
              <a:rPr lang="ru-RU" sz="2800" dirty="0"/>
              <a:t> информация о годовых медицинских расходах 1338 клиентов страховой компании из США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Размерность:</a:t>
            </a:r>
            <a:r>
              <a:rPr lang="ru-RU" sz="2800" dirty="0"/>
              <a:t> 1338 объектов, 7 признаков</a:t>
            </a:r>
          </a:p>
          <a:p>
            <a:pPr marL="714375" lvl="1" indent="-357188">
              <a:buFont typeface="Times New Roman" panose="02020603050405020304" pitchFamily="18" charset="0"/>
              <a:buChar char="−"/>
            </a:pPr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3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73F86C4-4EE1-4420-B874-3B6CD6AEE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Medical Cost Personal Dataset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10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Табличные данные: п</a:t>
            </a:r>
            <a:r>
              <a:rPr lang="ru-RU" sz="3600" dirty="0"/>
              <a:t>рактическая значимость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SzPct val="100000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ea typeface="Times New Roman" panose="02020603050405020304" pitchFamily="18" charset="0"/>
              </a:rPr>
              <a:t>страховым компаниям точнее рассчитывать страховые премии для клиентов с учетом индивидуальных факторов риска.</a:t>
            </a:r>
          </a:p>
          <a:p>
            <a:pPr>
              <a:lnSpc>
                <a:spcPct val="150000"/>
              </a:lnSpc>
              <a:buSzPct val="100000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ea typeface="Times New Roman" panose="02020603050405020304" pitchFamily="18" charset="0"/>
              </a:rPr>
              <a:t>медицинским учреждениям планировать бюджеты и ресурсы.</a:t>
            </a:r>
          </a:p>
          <a:p>
            <a:pPr>
              <a:lnSpc>
                <a:spcPct val="150000"/>
              </a:lnSpc>
              <a:buSzPct val="100000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ea typeface="Times New Roman" panose="02020603050405020304" pitchFamily="18" charset="0"/>
              </a:rPr>
              <a:t>государственным органам разрабатывать программы здравоохранения и оценивать их эффективность.</a:t>
            </a:r>
          </a:p>
          <a:p>
            <a:pPr>
              <a:lnSpc>
                <a:spcPct val="150000"/>
              </a:lnSpc>
              <a:buSzPct val="100000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ea typeface="Times New Roman" panose="02020603050405020304" pitchFamily="18" charset="0"/>
              </a:rPr>
              <a:t>исследователям выявлять факторы, наиболее сильно влияющие на затраты на здравоохранение.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4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73F86C4-4EE1-4420-B874-3B6CD6AEE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Medical Cost Personal Dataset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00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Табличные данные: атрибуты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5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674343"/>
                  </p:ext>
                </p:extLst>
              </p:nvPr>
            </p:nvGraphicFramePr>
            <p:xfrm>
              <a:off x="141667" y="880947"/>
              <a:ext cx="11916000" cy="53934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1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8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164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i="0" dirty="0"/>
                            <a:t>Название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Семантика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Тип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Примеры значения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2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age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/>
                            <a:t>возраст застрахованного лица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19, 28, 45, 54</m:t>
                                </m:r>
                              </m:oMath>
                            </m:oMathPara>
                          </a14:m>
                          <a:endParaRPr lang="ru-RU" sz="21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sex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/>
                            <a:t>пол застрахованного лица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бинарный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ru-RU" sz="21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male</m:t>
                                </m:r>
                                <m:r>
                                  <m:rPr>
                                    <m:nor/>
                                  </m:rPr>
                                  <a:rPr lang="ru-RU" sz="21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ru-RU" sz="21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female</m:t>
                                </m:r>
                              </m:oMath>
                            </m:oMathPara>
                          </a14:m>
                          <a:endParaRPr lang="ru-RU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 err="1"/>
                            <a:t>bmi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/>
                            <a:t>индекс массы тела, кг/м²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23.5, 27.9, 32.1</a:t>
                          </a:r>
                          <a:endParaRPr lang="ru-RU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children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/>
                            <a:t>количество детей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ru-RU" sz="21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0, 1, 2, 3</m:t>
                                </m:r>
                              </m:oMath>
                            </m:oMathPara>
                          </a14:m>
                          <a:endParaRPr lang="ru-RU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smoker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/>
                            <a:t>статус курения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бинарный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ru-RU" sz="21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yes</m:t>
                                </m:r>
                                <m:r>
                                  <m:rPr>
                                    <m:nor/>
                                  </m:rPr>
                                  <a:rPr lang="ru-RU" sz="21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ru-RU" sz="21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no</m:t>
                                </m:r>
                              </m:oMath>
                            </m:oMathPara>
                          </a14:m>
                          <a:endParaRPr lang="ru-RU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812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noProof="0" dirty="0">
                              <a:solidFill>
                                <a:schemeClr val="tx1"/>
                              </a:solidFill>
                            </a:rPr>
                            <a:t>region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/>
                            <a:t> </a:t>
                          </a:r>
                          <a:r>
                            <a:rPr lang="ru-RU" sz="2100" noProof="0" dirty="0"/>
                            <a:t>регион</a:t>
                          </a:r>
                          <a:r>
                            <a:rPr lang="en-US" sz="2100" dirty="0"/>
                            <a:t> </a:t>
                          </a:r>
                          <a:r>
                            <a:rPr lang="ru-RU" sz="2100" dirty="0"/>
                            <a:t>проживания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 err="1">
                              <a:solidFill>
                                <a:schemeClr val="tx1"/>
                              </a:solidFill>
                            </a:rPr>
                            <a:t>категор</a:t>
                          </a:r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northeast</a:t>
                          </a: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northwest</a:t>
                          </a: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southeast</a:t>
                          </a: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southwest</a:t>
                          </a:r>
                          <a:endParaRPr lang="ru-RU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1783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charges</a:t>
                          </a:r>
                          <a:br>
                            <a:rPr lang="en-US" sz="2100" b="1" dirty="0"/>
                          </a:br>
                          <a:r>
                            <a:rPr lang="ru-RU" sz="2100" b="0" dirty="0"/>
                            <a:t>(</a:t>
                          </a:r>
                          <a:r>
                            <a:rPr lang="ru-RU" sz="2100" b="0" i="1" dirty="0"/>
                            <a:t>целевая переменная</a:t>
                          </a:r>
                          <a:r>
                            <a:rPr lang="ru-RU" sz="2100" b="0" dirty="0"/>
                            <a:t>)</a:t>
                          </a:r>
                          <a:endParaRPr lang="en-US" sz="21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b="0" dirty="0"/>
                            <a:t>величина страховых выплат, $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b="0" noProof="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1684.32, 5678.90, 23456.78</a:t>
                          </a:r>
                          <a:endParaRPr lang="ru-RU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674343"/>
                  </p:ext>
                </p:extLst>
              </p:nvPr>
            </p:nvGraphicFramePr>
            <p:xfrm>
              <a:off x="141667" y="880947"/>
              <a:ext cx="11916000" cy="53934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1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8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164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№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i="0" dirty="0"/>
                            <a:t>Название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Семантика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Тип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1" dirty="0"/>
                            <a:t>Примеры значения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2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age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/>
                            <a:t>возраст застрахованного лица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8728" t="-75373" r="-127" b="-492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sex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/>
                            <a:t>пол застрахованного лица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бинарный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8728" t="-290123" r="-127" b="-7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 err="1"/>
                            <a:t>bmi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/>
                            <a:t>индекс массы тела, кг/м²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23.5, 27.9, 32.1</a:t>
                          </a:r>
                          <a:endParaRPr lang="ru-RU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children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dirty="0"/>
                            <a:t>количество детей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8728" t="-490123" r="-127" b="-5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smoker</a:t>
                          </a:r>
                          <a:endParaRPr lang="ru-RU" sz="2100" dirty="0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/>
                            <a:t>статус курения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бинарный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8728" t="-590123" r="-127" b="-4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812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noProof="0" dirty="0">
                              <a:solidFill>
                                <a:schemeClr val="tx1"/>
                              </a:solidFill>
                            </a:rPr>
                            <a:t>region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/>
                            <a:t> </a:t>
                          </a:r>
                          <a:r>
                            <a:rPr lang="ru-RU" sz="2100" noProof="0" dirty="0"/>
                            <a:t>регион</a:t>
                          </a:r>
                          <a:r>
                            <a:rPr lang="en-US" sz="2100" dirty="0"/>
                            <a:t> </a:t>
                          </a:r>
                          <a:r>
                            <a:rPr lang="ru-RU" sz="2100" dirty="0"/>
                            <a:t>проживания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dirty="0" err="1">
                              <a:solidFill>
                                <a:schemeClr val="tx1"/>
                              </a:solidFill>
                            </a:rPr>
                            <a:t>категор</a:t>
                          </a:r>
                          <a:r>
                            <a:rPr lang="ru-RU" sz="21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northeast</a:t>
                          </a: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northwest</a:t>
                          </a: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southeast</a:t>
                          </a: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:r>
                            <a:rPr lang="ru-RU" sz="210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southwest</a:t>
                          </a:r>
                          <a:endParaRPr lang="ru-RU" sz="2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1783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1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marT="36000" marB="360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charges</a:t>
                          </a:r>
                          <a:br>
                            <a:rPr lang="en-US" sz="2100" b="1" dirty="0"/>
                          </a:br>
                          <a:r>
                            <a:rPr lang="ru-RU" sz="2100" b="0" dirty="0"/>
                            <a:t>(</a:t>
                          </a:r>
                          <a:r>
                            <a:rPr lang="ru-RU" sz="2100" b="0" i="1" dirty="0"/>
                            <a:t>целевая переменная</a:t>
                          </a:r>
                          <a:r>
                            <a:rPr lang="ru-RU" sz="2100" b="0" dirty="0"/>
                            <a:t>)</a:t>
                          </a:r>
                          <a:endParaRPr lang="en-US" sz="21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b="0" dirty="0"/>
                            <a:t>величина страховых выплат, $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b="0" noProof="0" dirty="0">
                              <a:solidFill>
                                <a:schemeClr val="tx1"/>
                              </a:solidFill>
                            </a:rPr>
                            <a:t>числовой</a:t>
                          </a: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1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1684.32, 5678.90, 23456.78</a:t>
                          </a:r>
                          <a:endParaRPr lang="ru-RU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6000" marB="3600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933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500"/>
              <a:t>Анализ табличных данных: пропуски, выбросы и дубликаты </a:t>
            </a:r>
            <a:endParaRPr lang="ru-RU" sz="35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06880"/>
              </p:ext>
            </p:extLst>
          </p:nvPr>
        </p:nvGraphicFramePr>
        <p:xfrm>
          <a:off x="75179" y="1361464"/>
          <a:ext cx="5868422" cy="336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32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Признак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Кол-во</a:t>
                      </a:r>
                      <a:r>
                        <a:rPr lang="ru-RU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пропусков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Доля пропусков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age</a:t>
                      </a:r>
                      <a:endParaRPr lang="ru-RU" sz="2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sex</a:t>
                      </a:r>
                      <a:endParaRPr lang="ru-RU" sz="2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094">
                <a:tc>
                  <a:txBody>
                    <a:bodyPr/>
                    <a:lstStyle/>
                    <a:p>
                      <a:pPr algn="ctr"/>
                      <a:r>
                        <a:rPr lang="ru-RU" sz="2000" noProof="0" dirty="0" err="1"/>
                        <a:t>bmi</a:t>
                      </a:r>
                      <a:endParaRPr lang="en-US" sz="2000" noProof="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0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children</a:t>
                      </a:r>
                      <a:endParaRPr lang="ru-RU" sz="2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0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smoker</a:t>
                      </a:r>
                      <a:endParaRPr lang="ru-RU" sz="2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094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0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charges</a:t>
                      </a:r>
                      <a:endParaRPr lang="en-US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0" y="4836184"/>
            <a:ext cx="4213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Дубликаты в наборе данные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876675"/>
            <a:ext cx="5943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Пропуски в данных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отсутствуют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0" y="922820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Выбросы, найденные методом межквартильного размаха,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присутствуют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в признаках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bmi</a:t>
            </a:r>
            <a:r>
              <a:rPr lang="ru-RU" sz="2400" dirty="0">
                <a:solidFill>
                  <a:prstClr val="black"/>
                </a:solidFill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charges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age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и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children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AC3153D-E537-4E13-A4D9-F227407C9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953304"/>
              </p:ext>
            </p:extLst>
          </p:nvPr>
        </p:nvGraphicFramePr>
        <p:xfrm>
          <a:off x="75179" y="5297849"/>
          <a:ext cx="5868422" cy="976566"/>
        </p:xfrm>
        <a:graphic>
          <a:graphicData uri="http://schemas.openxmlformats.org/drawingml/2006/table">
            <a:tbl>
              <a:tblPr firstRow="1" firstCol="1" bandRow="1"/>
              <a:tblGrid>
                <a:gridCol w="3466248">
                  <a:extLst>
                    <a:ext uri="{9D8B030D-6E8A-4147-A177-3AD203B41FA5}">
                      <a16:colId xmlns:a16="http://schemas.microsoft.com/office/drawing/2014/main" val="2001150037"/>
                    </a:ext>
                  </a:extLst>
                </a:gridCol>
                <a:gridCol w="2402174">
                  <a:extLst>
                    <a:ext uri="{9D8B030D-6E8A-4147-A177-3AD203B41FA5}">
                      <a16:colId xmlns:a16="http://schemas.microsoft.com/office/drawing/2014/main" val="2022610243"/>
                    </a:ext>
                  </a:extLst>
                </a:gridCol>
              </a:tblGrid>
              <a:tr h="28385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8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18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915730"/>
                  </a:ext>
                </a:extLst>
              </a:tr>
              <a:tr h="408852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дубликатов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44930"/>
                  </a:ext>
                </a:extLst>
              </a:tr>
              <a:tr h="28385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Доля дубликатов,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396579"/>
                  </a:ext>
                </a:extLst>
              </a:tr>
            </a:tbl>
          </a:graphicData>
        </a:graphic>
      </p:graphicFrame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0C8B430-0C60-468C-AED7-7B78ADABE3E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07990"/>
            <a:ext cx="5868422" cy="25898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89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7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3" name="Пятиугольник 2"/>
          <p:cNvSpPr/>
          <p:nvPr/>
        </p:nvSpPr>
        <p:spPr>
          <a:xfrm>
            <a:off x="1725424" y="932681"/>
            <a:ext cx="10161776" cy="569267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tx1"/>
                </a:solidFill>
              </a:rPr>
              <a:t>Шаг 1. </a:t>
            </a:r>
            <a:br>
              <a:rPr lang="ru-RU" sz="2200" b="1" dirty="0">
                <a:solidFill>
                  <a:schemeClr val="tx1"/>
                </a:solidFill>
              </a:rPr>
            </a:br>
            <a:r>
              <a:rPr lang="ru-RU" sz="2200" b="1" dirty="0">
                <a:solidFill>
                  <a:schemeClr val="tx1"/>
                </a:solidFill>
              </a:rPr>
              <a:t>Визуализация распределения признаков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614539"/>
              </p:ext>
            </p:extLst>
          </p:nvPr>
        </p:nvGraphicFramePr>
        <p:xfrm>
          <a:off x="0" y="1501949"/>
          <a:ext cx="7924800" cy="4769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5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0042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Распределение возраста пациентов является равномерным в диапазоне от 20 до 64 лет. Что касается индекса массы тела (</a:t>
                      </a:r>
                      <a:r>
                        <a:rPr lang="ru-RU" sz="2200" b="0" dirty="0" err="1">
                          <a:solidFill>
                            <a:schemeClr val="tx1"/>
                          </a:solidFill>
                        </a:rPr>
                        <a:t>bmi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), его распределение близко к нормальному с пиком в диапазоне 28-32. Анализ количества детей показывает существенную неравномерность. распределение целевого признака – медицинских расходов (</a:t>
                      </a:r>
                      <a:r>
                        <a:rPr lang="ru-RU" sz="2200" b="0" dirty="0" err="1">
                          <a:solidFill>
                            <a:schemeClr val="tx1"/>
                          </a:solidFill>
                        </a:rPr>
                        <a:t>charges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) – демонстрирует выраженную правостороннюю асимметрию.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4969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2200" noProof="0" dirty="0"/>
                        <a:t>Представлены графики распределения значений для всех числовых признаков табличного набора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09198E-6ADE-40ED-81FA-124FFA66C19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080" y="1813559"/>
            <a:ext cx="5074921" cy="3542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BFCB7F0-39D0-4369-B822-FC97D917D3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174" y="911314"/>
            <a:ext cx="616569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5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3" name="Пятиугольник 2"/>
          <p:cNvSpPr/>
          <p:nvPr/>
        </p:nvSpPr>
        <p:spPr>
          <a:xfrm>
            <a:off x="1725424" y="866297"/>
            <a:ext cx="10161776" cy="569267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2. </a:t>
            </a:r>
            <a:b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Визуализация признаков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75449"/>
              </p:ext>
            </p:extLst>
          </p:nvPr>
        </p:nvGraphicFramePr>
        <p:xfrm>
          <a:off x="0" y="1478297"/>
          <a:ext cx="8427720" cy="4796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1193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Анализируя зависимость расходов от возраста, можно наблюдать положительную динамику, которая особенно выражена у курящих пациентов. Что касается зависимости расходов от индекса массы тела, то здесь картина дифференцируется в зависимости от статуса курения. Анализ распределения расходов по количеству детей показывает, что пациенты с двумя-тремя детьми имеют наибольший разброс расходов и более высокие медианные значения.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926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2200" noProof="0" dirty="0"/>
                        <a:t>Представлены графики, визуализирующие взаимосвязи между различными признаками набора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424" y="782361"/>
            <a:ext cx="612000" cy="612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D0190F-7107-429A-8A15-2B72014040B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280" y="2941320"/>
            <a:ext cx="4617720" cy="2778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798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3" name="Пятиугольник 2"/>
          <p:cNvSpPr/>
          <p:nvPr/>
        </p:nvSpPr>
        <p:spPr>
          <a:xfrm>
            <a:off x="1725424" y="866297"/>
            <a:ext cx="10161776" cy="569267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3. </a:t>
            </a:r>
            <a:b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lang="ru-RU" sz="2200" b="1" dirty="0">
                <a:solidFill>
                  <a:prstClr val="black"/>
                </a:solidFill>
                <a:latin typeface="Calibri"/>
              </a:rPr>
              <a:t>Корреляционный анализ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906546"/>
              </p:ext>
            </p:extLst>
          </p:nvPr>
        </p:nvGraphicFramePr>
        <p:xfrm>
          <a:off x="0" y="1478297"/>
          <a:ext cx="8976360" cy="4796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065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Прежде всего, коэффициент корреляции Пирсона между возрастом и расходами составляет 0.3, что указывает на умеренную положительную связь и подтверждает закономерность, отмеченную ранее. Что касается индекса массы тела (BMI), его корреляция с расходами равна 0.2, что свидетельствует лишь о слабой положительной связи, эта связь становится значительно сильнее при учете статуса курения. Наконец, анализируя взаимные корреляции признаков, можно отметить, что между возрастом, индексом массы тела и количеством детей наблюдаются очень слабые связи, что свидетельствует об отсутствии взаимосвязи и позволяет использовать все эти признаки в модели без опасений за их влияние друг на друга.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053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800" noProof="0" dirty="0"/>
                        <a:t>Представлена тепловая карта корреляции числовых признаков набора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99672E-D957-4FF9-AD0B-31ACB71E059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2145686"/>
            <a:ext cx="3929439" cy="323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7CD6CE-7FA6-4F0A-BF0F-F2ECF7B00B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424" y="86629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9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10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8" name="Нашивка 7"/>
          <p:cNvSpPr/>
          <p:nvPr/>
        </p:nvSpPr>
        <p:spPr>
          <a:xfrm>
            <a:off x="1716145" y="880947"/>
            <a:ext cx="10110095" cy="58811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>
                <a:solidFill>
                  <a:schemeClr val="tx1"/>
                </a:solidFill>
              </a:rPr>
              <a:t>Шаг 4. Фильтрация данных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26580"/>
              </p:ext>
            </p:extLst>
          </p:nvPr>
        </p:nvGraphicFramePr>
        <p:xfrm>
          <a:off x="0" y="1491201"/>
          <a:ext cx="12192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1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345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Фильтрация данных позволяет выделять подгруппы пациентов для детального анализа. Например, фильтр 1 выделяет группу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</a:rPr>
                        <a:t>высокорисковых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 пациентов, которые требуют особого внимания страховых компаний. Фильтр 2 показывает, что одинокие люди с избыточным весом составляют значительную долю и имеют средние расходы выше общего среднего. Фильтр 3 выделяет молодых здоровых пациентов из юго-восточного региона, которые имеют минимальные расходы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509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Для демонстрации возможностей фильтрации данных были применены различные условия отбора. Результаты представлены в табл.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44" y="903091"/>
            <a:ext cx="540000" cy="5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01D8C9-6FD0-4573-A229-4D67B28ED26F}"/>
              </a:ext>
            </a:extLst>
          </p:cNvPr>
          <p:cNvSpPr txBox="1"/>
          <p:nvPr/>
        </p:nvSpPr>
        <p:spPr>
          <a:xfrm>
            <a:off x="3886200" y="3551342"/>
            <a:ext cx="39830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200" dirty="0">
                <a:latin typeface="+mn-lt"/>
              </a:rPr>
              <a:t>Результаты фильтрации данных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6CF7B35F-AC3D-47D8-80D7-6AEB4FCDA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957953"/>
              </p:ext>
            </p:extLst>
          </p:nvPr>
        </p:nvGraphicFramePr>
        <p:xfrm>
          <a:off x="-1" y="3985322"/>
          <a:ext cx="12191999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1">
                  <a:extLst>
                    <a:ext uri="{9D8B030D-6E8A-4147-A177-3AD203B41FA5}">
                      <a16:colId xmlns:a16="http://schemas.microsoft.com/office/drawing/2014/main" val="1242793639"/>
                    </a:ext>
                  </a:extLst>
                </a:gridCol>
                <a:gridCol w="4011234">
                  <a:extLst>
                    <a:ext uri="{9D8B030D-6E8A-4147-A177-3AD203B41FA5}">
                      <a16:colId xmlns:a16="http://schemas.microsoft.com/office/drawing/2014/main" val="643725215"/>
                    </a:ext>
                  </a:extLst>
                </a:gridCol>
                <a:gridCol w="1942012">
                  <a:extLst>
                    <a:ext uri="{9D8B030D-6E8A-4147-A177-3AD203B41FA5}">
                      <a16:colId xmlns:a16="http://schemas.microsoft.com/office/drawing/2014/main" val="1949293779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298244387"/>
                    </a:ext>
                  </a:extLst>
                </a:gridCol>
                <a:gridCol w="4159145">
                  <a:extLst>
                    <a:ext uri="{9D8B030D-6E8A-4147-A177-3AD203B41FA5}">
                      <a16:colId xmlns:a16="http://schemas.microsoft.com/office/drawing/2014/main" val="3759890392"/>
                    </a:ext>
                  </a:extLst>
                </a:gridCol>
              </a:tblGrid>
              <a:tr h="321282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Фильтр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Кол-во записей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Доля,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Характеристики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66934"/>
                  </a:ext>
                </a:extLst>
              </a:tr>
              <a:tr h="526727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Курящие пациенты с расходами &gt; 30000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Средний возраст: 39.3, Средний BMI: 35.1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950987"/>
                  </a:ext>
                </a:extLst>
              </a:tr>
              <a:tr h="261127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Пациенты с BMI &gt; 30 и без детей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Средний возраст: 39.2, Средние расходы: $14492.19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43451"/>
                  </a:ext>
                </a:extLst>
              </a:tr>
              <a:tr h="503725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Молодые некурящие пациенты из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southeast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Средний возраст: 22.1, Средние расходы: $3593.41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776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915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11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7" name="Нашивка 6"/>
          <p:cNvSpPr/>
          <p:nvPr/>
        </p:nvSpPr>
        <p:spPr>
          <a:xfrm>
            <a:off x="1705698" y="880947"/>
            <a:ext cx="10129911" cy="502687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625475" algn="ctr"/>
            <a:r>
              <a:rPr lang="ru-RU" sz="2200" b="1" dirty="0">
                <a:solidFill>
                  <a:schemeClr val="tx1"/>
                </a:solidFill>
              </a:rPr>
              <a:t>Шаг 5. Добавление шума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594507"/>
              </p:ext>
            </p:extLst>
          </p:nvPr>
        </p:nvGraphicFramePr>
        <p:xfrm>
          <a:off x="0" y="1383635"/>
          <a:ext cx="121920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7081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Добавление шума с нулевым средним не смещает распределение, но увеличивает дисперсию. Это имитирует реальные погрешности измерений и позволяет модели стать более устойчивой к небольшим вариациям входных данных.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484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2200" dirty="0"/>
                        <a:t>Для повышения устойчивости модели и имитации реальных условий был добавлен гауссовский шум к двум числовым признакам: возрасту и индексу массы тела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F5A5D22-8FCC-4B8E-822D-386B1CB215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78" b="100000" l="2667" r="98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178" y="951634"/>
            <a:ext cx="432000" cy="432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0B5900-EF6A-452E-A337-A57985BF2F0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3615087"/>
            <a:ext cx="5105400" cy="22291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B9B49096-3B98-4EAA-B5DB-F762583F2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896247"/>
              </p:ext>
            </p:extLst>
          </p:nvPr>
        </p:nvGraphicFramePr>
        <p:xfrm>
          <a:off x="5074920" y="3485432"/>
          <a:ext cx="7056120" cy="261899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036320">
                  <a:extLst>
                    <a:ext uri="{9D8B030D-6E8A-4147-A177-3AD203B41FA5}">
                      <a16:colId xmlns:a16="http://schemas.microsoft.com/office/drawing/2014/main" val="375535887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30045163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1801062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124777034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566236760"/>
                    </a:ext>
                  </a:extLst>
                </a:gridCol>
              </a:tblGrid>
              <a:tr h="191165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Показатель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Оригинал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 шумом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1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BMI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30.66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30.66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27150"/>
                  </a:ext>
                </a:extLst>
              </a:tr>
              <a:tr h="607316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BMI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Стандартное отклонение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+0.08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62098"/>
                  </a:ext>
                </a:extLst>
              </a:tr>
              <a:tr h="607316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Возраст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39.21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39.21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9068"/>
                  </a:ext>
                </a:extLst>
              </a:tr>
              <a:tr h="607316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Возраст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Стандартное отклонение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+0.12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61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27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FE4C9-4D41-465E-AFA1-C0EE2928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Табличные данные: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3048C3-E753-46E9-B785-857924D2A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Целесообразно применить преобразование целевой переменной </a:t>
            </a:r>
            <a:r>
              <a:rPr lang="ru-RU" dirty="0" err="1"/>
              <a:t>charges</a:t>
            </a:r>
            <a:r>
              <a:rPr lang="ru-RU" dirty="0"/>
              <a:t>, для снижения влияния асимметрии и выбросов.</a:t>
            </a:r>
          </a:p>
          <a:p>
            <a:r>
              <a:rPr lang="ru-RU" dirty="0"/>
              <a:t>Необходимо выполнить масштабирование числовых признаков, для улучшения сходимости градиентных методов при обучении.</a:t>
            </a:r>
          </a:p>
          <a:p>
            <a:r>
              <a:rPr lang="ru-RU" dirty="0"/>
              <a:t>При разбиении данных на обучающую и тестовую выборки следует обязательно сохранить распределение целевой переменной.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E628BA-EA82-4977-A490-F5E1F913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12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251254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E544B-8A3E-4946-A081-EC9D64A3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Табличные данные: выводы по главе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8D0FDD-8974-4D60-92BA-BA0DDC66E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0640"/>
            <a:ext cx="12188283" cy="4811380"/>
          </a:xfrm>
        </p:spPr>
        <p:txBody>
          <a:bodyPr/>
          <a:lstStyle/>
          <a:p>
            <a:r>
              <a:rPr lang="ru-RU" dirty="0"/>
              <a:t>В ходе анализа выявлены особенности, требующие внимания: распределение целевой переменной имеет выраженную правостороннюю асимметрию, в ней присутствует около 10% выбросов, соответствующих аномально высоким расходам; также обнаружены единичные выбросы в признаках BMI и количестве детей. Кроме того, признак «количество детей» распределён неравномерно с преобладанием семей без детей, а корреляционный анализ показывает лишь слабые линейные связи между переменными, хотя визуализация указывает на наличие нелинейных зависимостей, особенно с учётом статуса курения. Таким образом, набор данных признаётся пригодным для решения задачи, однако для достижения максимального качества модели желательно выполнить указанные преобразования.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BEF711-3A84-49A1-BBD2-89C3204A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13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27964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Временные ряды: задача и описание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14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099281"/>
          </a:xfrm>
        </p:spPr>
        <p:txBody>
          <a:bodyPr/>
          <a:lstStyle/>
          <a:p>
            <a:pPr marL="357188" indent="-357188"/>
            <a:r>
              <a:rPr lang="ru-RU" b="1" dirty="0"/>
              <a:t>Задача: </a:t>
            </a:r>
            <a:r>
              <a:rPr lang="ru-RU" dirty="0"/>
              <a:t>прогнозирование потребления электроэнергии в городе </a:t>
            </a:r>
            <a:r>
              <a:rPr lang="ru-RU" dirty="0" err="1"/>
              <a:t>Тетуан</a:t>
            </a:r>
            <a:r>
              <a:rPr lang="ru-RU" dirty="0"/>
              <a:t> (Марокко) на основе исторических данных энергопотребления и метеорологических параметров.</a:t>
            </a:r>
          </a:p>
          <a:p>
            <a:pPr marL="357188" indent="-357188"/>
            <a:r>
              <a:rPr lang="ru-RU" b="1" dirty="0"/>
              <a:t>Набор данных: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Название, источник: </a:t>
            </a:r>
            <a:r>
              <a:rPr lang="en-US" sz="2800" dirty="0"/>
              <a:t>Power Consumption of </a:t>
            </a:r>
            <a:r>
              <a:rPr lang="en-US" sz="2800" dirty="0" err="1"/>
              <a:t>Tetouan</a:t>
            </a:r>
            <a:r>
              <a:rPr lang="en-US" sz="2800" dirty="0"/>
              <a:t> City</a:t>
            </a:r>
            <a:r>
              <a:rPr lang="ru-RU" sz="2800" dirty="0"/>
              <a:t>, </a:t>
            </a:r>
            <a:r>
              <a:rPr lang="en-US" sz="2800" dirty="0"/>
              <a:t>UCI Machine Learning Repository.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URL:</a:t>
            </a:r>
            <a:r>
              <a:rPr lang="ru-RU" sz="2800" dirty="0"/>
              <a:t> </a:t>
            </a:r>
            <a:r>
              <a:rPr 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https://archive.ics.uci.edu/dataset/849/power+consumption+of+tetouan+city</a:t>
            </a:r>
            <a:endParaRPr lang="ru-RU" sz="2800" dirty="0"/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Входные данные: </a:t>
            </a:r>
            <a:r>
              <a:rPr lang="ru-RU" sz="2800" dirty="0"/>
              <a:t>многомерный временной ряд, включающий показатели потребления электроэнергии в трёх зонах города (Zone 1, Zone 2, Zone 3), а также метеорологические параметры (температура, влажность, скорость ветра).</a:t>
            </a:r>
          </a:p>
        </p:txBody>
      </p:sp>
    </p:spTree>
    <p:extLst>
      <p:ext uri="{BB962C8B-B14F-4D97-AF65-F5344CB8AC3E}">
        <p14:creationId xmlns:p14="http://schemas.microsoft.com/office/powerpoint/2010/main" val="416919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Временные ряды: атрибуты и структура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15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75B4ABFB-E259-41A1-8EC3-BD897655D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514399"/>
              </p:ext>
            </p:extLst>
          </p:nvPr>
        </p:nvGraphicFramePr>
        <p:xfrm>
          <a:off x="0" y="880947"/>
          <a:ext cx="7929798" cy="53934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3523">
                  <a:extLst>
                    <a:ext uri="{9D8B030D-6E8A-4147-A177-3AD203B41FA5}">
                      <a16:colId xmlns:a16="http://schemas.microsoft.com/office/drawing/2014/main" val="2545898539"/>
                    </a:ext>
                  </a:extLst>
                </a:gridCol>
                <a:gridCol w="3952366">
                  <a:extLst>
                    <a:ext uri="{9D8B030D-6E8A-4147-A177-3AD203B41FA5}">
                      <a16:colId xmlns:a16="http://schemas.microsoft.com/office/drawing/2014/main" val="4040441386"/>
                    </a:ext>
                  </a:extLst>
                </a:gridCol>
                <a:gridCol w="1663909">
                  <a:extLst>
                    <a:ext uri="{9D8B030D-6E8A-4147-A177-3AD203B41FA5}">
                      <a16:colId xmlns:a16="http://schemas.microsoft.com/office/drawing/2014/main" val="1618452293"/>
                    </a:ext>
                  </a:extLst>
                </a:gridCol>
              </a:tblGrid>
              <a:tr h="551761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Признак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Ед. изм.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160229"/>
                  </a:ext>
                </a:extLst>
              </a:tr>
              <a:tr h="8450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Temperature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Температура воздуха</a:t>
                      </a:r>
                      <a:endParaRPr lang="ru-RU" sz="28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effectLst/>
                        </a:rPr>
                        <a:t>°C</a:t>
                      </a:r>
                      <a:endParaRPr lang="en-US" sz="2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39438944"/>
                  </a:ext>
                </a:extLst>
              </a:tr>
              <a:tr h="8450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Humidity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Влажность воздуха</a:t>
                      </a:r>
                      <a:endParaRPr lang="ru-RU" sz="28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%</a:t>
                      </a:r>
                      <a:endParaRPr lang="ru-RU" sz="2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44089200"/>
                  </a:ext>
                </a:extLst>
              </a:tr>
              <a:tr h="616674">
                <a:tc>
                  <a:txBody>
                    <a:bodyPr/>
                    <a:lstStyle/>
                    <a:p>
                      <a:pPr algn="ctr"/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</a:rPr>
                        <a:t>Wind Speed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kern="1200" dirty="0">
                          <a:solidFill>
                            <a:schemeClr val="dk1"/>
                          </a:solidFill>
                          <a:effectLst/>
                        </a:rPr>
                        <a:t>Скорость ветра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км/ч</a:t>
                      </a:r>
                      <a:endParaRPr lang="ru-RU" sz="2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9164518"/>
                  </a:ext>
                </a:extLst>
              </a:tr>
              <a:tr h="845007">
                <a:tc>
                  <a:txBody>
                    <a:bodyPr/>
                    <a:lstStyle/>
                    <a:p>
                      <a:pPr algn="ctr"/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</a:rPr>
                        <a:t>Zone 1 Power</a:t>
                      </a:r>
                      <a:endParaRPr lang="ru-RU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Потребление в зоне 1</a:t>
                      </a:r>
                      <a:endParaRPr lang="ru-RU" sz="2800" b="0" i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кВт</a:t>
                      </a:r>
                      <a:endParaRPr lang="ru-RU" sz="2800" b="0" i="1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74644962"/>
                  </a:ext>
                </a:extLst>
              </a:tr>
              <a:tr h="845007">
                <a:tc>
                  <a:txBody>
                    <a:bodyPr/>
                    <a:lstStyle/>
                    <a:p>
                      <a:pPr algn="ctr"/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</a:rPr>
                        <a:t>Zone 2 Power</a:t>
                      </a:r>
                      <a:endParaRPr lang="ru-RU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Потребление в зоне 2</a:t>
                      </a:r>
                      <a:endParaRPr lang="ru-RU" sz="2800" b="0" i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кВт</a:t>
                      </a:r>
                      <a:endParaRPr lang="ru-RU" sz="2800" b="0" i="1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176685"/>
                  </a:ext>
                </a:extLst>
              </a:tr>
              <a:tr h="845007">
                <a:tc>
                  <a:txBody>
                    <a:bodyPr/>
                    <a:lstStyle/>
                    <a:p>
                      <a:pPr algn="ctr"/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</a:rPr>
                        <a:t>Zone 3 Power</a:t>
                      </a:r>
                      <a:endParaRPr lang="ru-RU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Потребление в зоне 3</a:t>
                      </a:r>
                      <a:endParaRPr lang="ru-RU" sz="2800" b="0" i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effectLst/>
                        </a:rPr>
                        <a:t>кВт</a:t>
                      </a:r>
                      <a:endParaRPr lang="ru-RU" sz="2800" b="0" i="1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75237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B44A61-2508-477C-B834-DFEC1315F84C}"/>
              </a:ext>
            </a:extLst>
          </p:cNvPr>
          <p:cNvSpPr txBox="1"/>
          <p:nvPr/>
        </p:nvSpPr>
        <p:spPr>
          <a:xfrm>
            <a:off x="7938270" y="880947"/>
            <a:ext cx="42537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Структура данных: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Общее кол-во записей: 52 416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Количество признаков: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Наличие целевых переменных: Измеренное потребление электроэнергии в трех зонах города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3A421-A812-4B5D-BF1A-01F0785BE7BF}"/>
              </a:ext>
            </a:extLst>
          </p:cNvPr>
          <p:cNvSpPr txBox="1"/>
          <p:nvPr/>
        </p:nvSpPr>
        <p:spPr>
          <a:xfrm>
            <a:off x="7929798" y="5309291"/>
            <a:ext cx="3658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effectLst/>
                <a:latin typeface="+mn-lt"/>
                <a:ea typeface="Times New Roman" panose="02020603050405020304" pitchFamily="18" charset="0"/>
              </a:rPr>
              <a:t>Пропуски:</a:t>
            </a:r>
            <a:r>
              <a:rPr lang="ru-RU" sz="2800" dirty="0">
                <a:effectLst/>
                <a:latin typeface="+mn-lt"/>
                <a:ea typeface="Times New Roman" panose="02020603050405020304" pitchFamily="18" charset="0"/>
              </a:rPr>
              <a:t> отсутствуют</a:t>
            </a:r>
            <a:endParaRPr lang="ru-RU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429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861"/>
            <a:ext cx="12192000" cy="668902"/>
          </a:xfrm>
        </p:spPr>
        <p:txBody>
          <a:bodyPr/>
          <a:lstStyle/>
          <a:p>
            <a:pPr algn="l"/>
            <a:r>
              <a:rPr lang="ru-RU" dirty="0"/>
              <a:t>				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16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8" name="Нашивка 7"/>
          <p:cNvSpPr/>
          <p:nvPr/>
        </p:nvSpPr>
        <p:spPr>
          <a:xfrm>
            <a:off x="1234441" y="666040"/>
            <a:ext cx="10439399" cy="668902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>
                <a:solidFill>
                  <a:schemeClr val="tx1"/>
                </a:solidFill>
              </a:rPr>
              <a:t>Шаг 1. </a:t>
            </a:r>
          </a:p>
          <a:p>
            <a:pPr marL="447675" algn="ctr"/>
            <a:r>
              <a:rPr lang="ru-RU" sz="2200" b="1" dirty="0">
                <a:solidFill>
                  <a:schemeClr val="tx1"/>
                </a:solidFill>
              </a:rPr>
              <a:t>Визуализация исходных данных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995183"/>
              </p:ext>
            </p:extLst>
          </p:nvPr>
        </p:nvGraphicFramePr>
        <p:xfrm>
          <a:off x="0" y="1344211"/>
          <a:ext cx="12192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1284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Визуально выраженный тренд в данных отсутствует – все показатели демонстрируют высокую изменчивость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Температура характеризуется резкими колебаниями без какой-либо чёткой направленности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Что касается сезонности, явно прослеживается суточная цикличность. Амплитуда суточных колебаний значительна. Между температурой и влажностью заметна 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</a:rPr>
                        <a:t>противофазность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 изменений: рост температуры часто сопровождается падением влажности, и наоборот. </a:t>
                      </a:r>
                    </a:p>
                  </a:txBody>
                  <a:tcPr marR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42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+mn-lt"/>
                        </a:rPr>
                        <a:t>Были построены линейные графики потребления электроэнергии по трём зонам и метеорологических показателей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622" y="730491"/>
            <a:ext cx="540000" cy="54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12C0791-B0AE-4A85-B5EA-2F236A79DF0D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70" b="35450"/>
          <a:stretch/>
        </p:blipFill>
        <p:spPr bwMode="auto">
          <a:xfrm>
            <a:off x="0" y="3610566"/>
            <a:ext cx="5881141" cy="258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Объект 4">
            <a:extLst>
              <a:ext uri="{FF2B5EF4-FFF2-40B4-BE49-F238E27FC236}">
                <a16:creationId xmlns:a16="http://schemas.microsoft.com/office/drawing/2014/main" id="{0B943C41-AB88-4D2F-A462-783D000019C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919" y="3997766"/>
            <a:ext cx="6096000" cy="22766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0992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17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7" name="Нашивка 6"/>
          <p:cNvSpPr/>
          <p:nvPr/>
        </p:nvSpPr>
        <p:spPr>
          <a:xfrm>
            <a:off x="1631004" y="880947"/>
            <a:ext cx="10271436" cy="632723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algn="ctr"/>
            <a:r>
              <a:rPr lang="ru-RU" sz="2200" b="1" dirty="0">
                <a:solidFill>
                  <a:schemeClr val="tx1"/>
                </a:solidFill>
              </a:rPr>
              <a:t>Шаг 2. </a:t>
            </a:r>
          </a:p>
          <a:p>
            <a:pPr marL="363538" algn="ctr"/>
            <a:r>
              <a:rPr lang="ru-RU" sz="2200" b="1" dirty="0">
                <a:solidFill>
                  <a:schemeClr val="tx1"/>
                </a:solidFill>
              </a:rPr>
              <a:t>Статический анализ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6916"/>
              </p:ext>
            </p:extLst>
          </p:nvPr>
        </p:nvGraphicFramePr>
        <p:xfrm>
          <a:off x="1" y="2026920"/>
          <a:ext cx="12191998" cy="380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8836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Разброс значений в целом умеренный, однако максимальное значение указывает на наличие выбросов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Все каналы содержат одинаковое количество непустых значений, то есть пропуски в данных отсутствуют. При этом диапазоны значений по разным каналам сильно различаются: потребление электроэнергии измеряется в десятках тысяч киловатт, тогда как метеорологические параметры – в единицах.</a:t>
                      </a:r>
                      <a:br>
                        <a:rPr lang="ru-RU" sz="22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a:b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1804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На шаге 3 были рассчитаны описательные статистики для всех числовых каналов с помощью метода </a:t>
                      </a:r>
                      <a:r>
                        <a:rPr lang="ru-RU" sz="2200" dirty="0" err="1">
                          <a:solidFill>
                            <a:schemeClr val="tx1"/>
                          </a:solidFill>
                        </a:rPr>
                        <a:t>describe</a:t>
                      </a:r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() библиотеки </a:t>
                      </a:r>
                      <a:r>
                        <a:rPr lang="ru-RU" sz="2200" dirty="0" err="1">
                          <a:solidFill>
                            <a:schemeClr val="tx1"/>
                          </a:solidFill>
                        </a:rPr>
                        <a:t>pandas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691" y="880947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68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1615764" y="903322"/>
            <a:ext cx="10271436" cy="632723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3. </a:t>
            </a:r>
          </a:p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 пропусков и выбросов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62459"/>
              </p:ext>
            </p:extLst>
          </p:nvPr>
        </p:nvGraphicFramePr>
        <p:xfrm>
          <a:off x="-1" y="1536046"/>
          <a:ext cx="7360922" cy="4738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8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793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Пропуски значений отсутствуют во всех каналах данных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каждый канал содержит статистические выбросы, однако их доля не превышает 1,20% от общего объёма данных, что является допустимой нормой для реальных измерительных систем.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Важно отметить, что выбросы не носят систематического характера и не свидетельствуют об ошибках сбора данных – напротив, они отражают реальные редкие события, такие как аномально высокая температура, штормовой ветер или пиковое потребление электроэнергии в часы максимальной нагрузки.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43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выполнена проверка наличия пропущенных значений и выявление выбросов.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2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5C87B3-A48C-4BE3-9BD2-B0735B7ADB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984" y="820385"/>
            <a:ext cx="612000" cy="612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D03619-80D8-4D3F-AFF7-E66048E9D01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920" y="2103529"/>
            <a:ext cx="4831080" cy="2773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9196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19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836504"/>
              </p:ext>
            </p:extLst>
          </p:nvPr>
        </p:nvGraphicFramePr>
        <p:xfrm>
          <a:off x="0" y="1676623"/>
          <a:ext cx="6278880" cy="4579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0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309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Масштабы признаков различаются в десятки тысяч раз, что является критичным для моделей, чувствительных к масштабу входных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549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Выполнен анализ абсолютных диапазонов значений и сравнение масштабов признаков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Рекомендуется выполнить стандартизацию или нормализацию всех числовых признаков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Нашивка 6"/>
          <p:cNvSpPr/>
          <p:nvPr/>
        </p:nvSpPr>
        <p:spPr>
          <a:xfrm>
            <a:off x="1730348" y="880947"/>
            <a:ext cx="10248292" cy="766478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4500" algn="ctr"/>
            <a:r>
              <a:rPr lang="ru-RU" sz="2200" b="1" dirty="0">
                <a:solidFill>
                  <a:schemeClr val="tx1"/>
                </a:solidFill>
              </a:rPr>
              <a:t>Шаг 4. </a:t>
            </a:r>
          </a:p>
          <a:p>
            <a:pPr marL="720725" algn="ctr"/>
            <a:r>
              <a:rPr lang="ru-RU" sz="2200" b="1" dirty="0">
                <a:solidFill>
                  <a:schemeClr val="tx1"/>
                </a:solidFill>
              </a:rPr>
              <a:t>Анализ диапазонов значений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857" y="1026784"/>
            <a:ext cx="504000" cy="50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D267EA-14A8-4AA3-BA40-19C0534CB4E5}"/>
              </a:ext>
            </a:extLst>
          </p:cNvPr>
          <p:cNvSpPr txBox="1"/>
          <p:nvPr/>
        </p:nvSpPr>
        <p:spPr>
          <a:xfrm>
            <a:off x="6278880" y="2045262"/>
            <a:ext cx="591312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580">
              <a:lnSpc>
                <a:spcPct val="150000"/>
              </a:lnSpc>
            </a:pPr>
            <a:r>
              <a:rPr lang="ru-RU" sz="2000" b="1" dirty="0">
                <a:effectLst/>
                <a:latin typeface="+mn-lt"/>
                <a:ea typeface="Times New Roman" panose="02020603050405020304" pitchFamily="18" charset="0"/>
              </a:rPr>
              <a:t>Абсолютные диапазоны значений:</a:t>
            </a:r>
            <a:endParaRPr lang="ru-RU" sz="20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 err="1">
                <a:effectLst/>
                <a:latin typeface="+mn-lt"/>
                <a:ea typeface="Times New Roman" panose="02020603050405020304" pitchFamily="18" charset="0"/>
              </a:rPr>
              <a:t>Temperature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: 4.30-37.20 °C (размах 32.90 °C)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 err="1">
                <a:effectLst/>
                <a:latin typeface="+mn-lt"/>
                <a:ea typeface="Times New Roman" panose="02020603050405020304" pitchFamily="18" charset="0"/>
              </a:rPr>
              <a:t>Humidity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: 23.50-99.90% (размах 76.40%)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Wind Speed: 0.00-25.40 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км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/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ч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 (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размах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 25.40 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км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/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ч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).</a:t>
            </a:r>
            <a:endParaRPr lang="ru-RU" sz="20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Zone 1: 15 533-57 657 кВт (размах 42 124 кВт)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Zone 2: 11 606-47 154 кВт (размах 35 548 кВт)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</a:rPr>
              <a:t>Zone 3: 7 124-53 068 кВт (размах 45 944 кВт)</a:t>
            </a:r>
            <a:r>
              <a:rPr lang="en-US" sz="22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+mn-lt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8572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ашивка 6">
            <a:extLst>
              <a:ext uri="{FF2B5EF4-FFF2-40B4-BE49-F238E27FC236}">
                <a16:creationId xmlns:a16="http://schemas.microsoft.com/office/drawing/2014/main" id="{705F6F09-1E70-4609-9EFB-E37E689D99AC}"/>
              </a:ext>
            </a:extLst>
          </p:cNvPr>
          <p:cNvSpPr/>
          <p:nvPr/>
        </p:nvSpPr>
        <p:spPr>
          <a:xfrm>
            <a:off x="1585284" y="890296"/>
            <a:ext cx="10271436" cy="632723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5. </a:t>
            </a:r>
          </a:p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Корреляционный анализ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20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410217"/>
              </p:ext>
            </p:extLst>
          </p:nvPr>
        </p:nvGraphicFramePr>
        <p:xfrm>
          <a:off x="0" y="1541718"/>
          <a:ext cx="7345680" cy="473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533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Наблюдается экстремально высокая положительная корреляция между зонами потребления, что свидетельствует о практически синхронном изменении нагрузки на энергосистему во всем городе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Зафиксирована умеренная отрицательная связь между температурой и влажностью, что полностью соответствует известной физической закономерности: с повышением температуры относительная влажность воздуха снижается</a:t>
                      </a:r>
                    </a:p>
                  </a:txBody>
                  <a:tcPr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816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Рассчитана матрица коэффициентов корреляции Пирсона для всех каналов. Для наглядного представления связей построена тепловая карта.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80" y="899645"/>
            <a:ext cx="656825" cy="63272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84C5F6-74C3-466E-91E8-ED52A47F996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60" y="1972309"/>
            <a:ext cx="4251960" cy="3660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717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ашивка 6">
            <a:extLst>
              <a:ext uri="{FF2B5EF4-FFF2-40B4-BE49-F238E27FC236}">
                <a16:creationId xmlns:a16="http://schemas.microsoft.com/office/drawing/2014/main" id="{705F6F09-1E70-4609-9EFB-E37E689D99AC}"/>
              </a:ext>
            </a:extLst>
          </p:cNvPr>
          <p:cNvSpPr/>
          <p:nvPr/>
        </p:nvSpPr>
        <p:spPr>
          <a:xfrm>
            <a:off x="1585284" y="890296"/>
            <a:ext cx="10271436" cy="632723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6. </a:t>
            </a:r>
          </a:p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200" b="1" dirty="0">
                <a:solidFill>
                  <a:prstClr val="black"/>
                </a:solidFill>
                <a:latin typeface="Calibri"/>
              </a:rPr>
              <a:t>Поиск и анализ шумов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21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91430"/>
              </p:ext>
            </p:extLst>
          </p:nvPr>
        </p:nvGraphicFramePr>
        <p:xfrm>
          <a:off x="0" y="1541719"/>
          <a:ext cx="6949440" cy="473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53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Тренд – демонстрирует слабый рост потребления в течение первого месяца с небольшими колебаниями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Сезонная компонента – выраженный суточный цикл, максимум в дневные часы, минимум ночью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Остатки (шум) – колеблются в определённом диапазоне, не имеют видимых закономерностей. Гистограмма распределения остатков близка к нормальной, симметричная в центральной части, однако присутствуют редкие, но сильные выбросы</a:t>
                      </a:r>
                    </a:p>
                  </a:txBody>
                  <a:tcPr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816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Выполнена декомпозиция временного ряда Zone 1 Power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+mn-lt"/>
                        </a:rPr>
                        <a:t>Consumption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 на тренд, сезонность и остатки. Декомпозиция проведена с периодом 24 часа * 6 измерений в час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80" y="899645"/>
            <a:ext cx="656825" cy="632723"/>
          </a:xfrm>
          <a:prstGeom prst="rect">
            <a:avLst/>
          </a:prstGeom>
        </p:spPr>
      </p:pic>
      <p:pic>
        <p:nvPicPr>
          <p:cNvPr id="8" name="Объект 4">
            <a:extLst>
              <a:ext uri="{FF2B5EF4-FFF2-40B4-BE49-F238E27FC236}">
                <a16:creationId xmlns:a16="http://schemas.microsoft.com/office/drawing/2014/main" id="{7A68696D-35B4-4646-8B65-12E311F66C5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440" y="1583190"/>
            <a:ext cx="5138479" cy="225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802EE81-BB09-460D-ADAF-CBFC9CA3A7B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2" r="50302"/>
          <a:stretch/>
        </p:blipFill>
        <p:spPr bwMode="auto">
          <a:xfrm>
            <a:off x="7763698" y="3954484"/>
            <a:ext cx="3509963" cy="2259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196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D5D34-8167-48D7-981B-1B91CD58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Временные ряды: выводы по главе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A2AA91-A339-4916-800F-40A7E5F0A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Масштабы признаков различаются на три-четыре порядка, что является критичным для большинства алгоритмов машинного обучения, особенно для градиентных методов и методов, основанных на вычислении расстояний.</a:t>
            </a:r>
          </a:p>
          <a:p>
            <a:r>
              <a:rPr lang="ru-RU" dirty="0"/>
              <a:t>В ходе корреляционного анализа обнаружена экстремально высокая положительная корреляция между зонами потребления электроэнергии. Для решения этой проблемы рекомендуется при прогнозировании потребления одной конкретной зоны исключить два других канала потребления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7467E2-8015-47E4-AC8C-C90927D3F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22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256244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B2A0F7-2096-4082-89BB-1FBCD51C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Изображения: задача и описание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CA4F50-79F3-4D73-9A19-2067D8B1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0947"/>
            <a:ext cx="12188283" cy="5077894"/>
          </a:xfrm>
        </p:spPr>
        <p:txBody>
          <a:bodyPr/>
          <a:lstStyle/>
          <a:p>
            <a:r>
              <a:rPr lang="ru-RU" b="1" dirty="0"/>
              <a:t>Задача:</a:t>
            </a:r>
            <a:r>
              <a:rPr lang="ru-RU" dirty="0"/>
              <a:t> рассматривается задача автоматической классификации изображений природных объектов по их визуальным признакам.</a:t>
            </a:r>
          </a:p>
          <a:p>
            <a:r>
              <a:rPr lang="ru-RU" b="1" dirty="0"/>
              <a:t>Набор данных: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Название, источник: </a:t>
            </a:r>
            <a:r>
              <a:rPr lang="en-US" sz="2800" dirty="0"/>
              <a:t>Natural Images Dataset</a:t>
            </a:r>
            <a:r>
              <a:rPr lang="ru-RU" sz="2800" dirty="0"/>
              <a:t>, </a:t>
            </a:r>
            <a:r>
              <a:rPr lang="en-US" sz="2800" dirty="0"/>
              <a:t>Kaggle.</a:t>
            </a:r>
            <a:endParaRPr lang="ru-RU" sz="2800" dirty="0"/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en-US" sz="2800" b="1" dirty="0"/>
              <a:t>URL: </a:t>
            </a:r>
            <a:r>
              <a:rPr 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https://www.kaggle.com/datasets/prasunroy/natural-images</a:t>
            </a:r>
            <a:r>
              <a:rPr lang="en-US" sz="2800" dirty="0"/>
              <a:t>.</a:t>
            </a:r>
            <a:endParaRPr lang="ru-RU" sz="2800" dirty="0"/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Структура данных:</a:t>
            </a:r>
          </a:p>
          <a:p>
            <a:pPr marL="1271587" lvl="2" indent="-4572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800" dirty="0"/>
              <a:t>Общее количество изображений: 6899.</a:t>
            </a:r>
          </a:p>
          <a:p>
            <a:pPr marL="1271587" lvl="2" indent="-4572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800" dirty="0"/>
              <a:t>Количество классов: 8.</a:t>
            </a:r>
          </a:p>
          <a:p>
            <a:pPr marL="1271587" lvl="2" indent="-4572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800" dirty="0"/>
              <a:t>Формат файлов: </a:t>
            </a:r>
            <a:r>
              <a:rPr lang="en-US" sz="2800" dirty="0"/>
              <a:t>JPEG, PNG.</a:t>
            </a:r>
            <a:endParaRPr lang="ru-RU" sz="2800" dirty="0"/>
          </a:p>
          <a:p>
            <a:pPr marL="1271587" lvl="2" indent="-4572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800" dirty="0"/>
              <a:t>•	Структура каталогов: данные организованы в папки по классам: </a:t>
            </a:r>
            <a:r>
              <a:rPr lang="ru-RU" sz="2800" dirty="0" err="1"/>
              <a:t>airplane</a:t>
            </a:r>
            <a:r>
              <a:rPr lang="ru-RU" sz="2800" dirty="0"/>
              <a:t>/, </a:t>
            </a:r>
            <a:r>
              <a:rPr lang="ru-RU" sz="2800" dirty="0" err="1"/>
              <a:t>car</a:t>
            </a:r>
            <a:r>
              <a:rPr lang="ru-RU" sz="2800" dirty="0"/>
              <a:t>/, </a:t>
            </a:r>
            <a:r>
              <a:rPr lang="ru-RU" sz="2800" dirty="0" err="1"/>
              <a:t>cat</a:t>
            </a:r>
            <a:r>
              <a:rPr lang="ru-RU" sz="2800" dirty="0"/>
              <a:t>/, </a:t>
            </a:r>
            <a:r>
              <a:rPr lang="ru-RU" sz="2800" dirty="0" err="1"/>
              <a:t>dog</a:t>
            </a:r>
            <a:r>
              <a:rPr lang="ru-RU" sz="2800" dirty="0"/>
              <a:t>/, </a:t>
            </a:r>
            <a:r>
              <a:rPr lang="ru-RU" sz="2800" dirty="0" err="1"/>
              <a:t>flower</a:t>
            </a:r>
            <a:r>
              <a:rPr lang="ru-RU" sz="2800" dirty="0"/>
              <a:t>/, </a:t>
            </a:r>
            <a:r>
              <a:rPr lang="ru-RU" sz="2800" dirty="0" err="1"/>
              <a:t>fruit</a:t>
            </a:r>
            <a:r>
              <a:rPr lang="ru-RU" sz="2800" dirty="0"/>
              <a:t>/, </a:t>
            </a:r>
            <a:r>
              <a:rPr lang="ru-RU" sz="2800" dirty="0" err="1"/>
              <a:t>motorbike</a:t>
            </a:r>
            <a:r>
              <a:rPr lang="ru-RU" sz="2800" dirty="0"/>
              <a:t>/, </a:t>
            </a:r>
            <a:r>
              <a:rPr lang="ru-RU" sz="2800" dirty="0" err="1"/>
              <a:t>person</a:t>
            </a:r>
            <a:r>
              <a:rPr lang="ru-RU" sz="2800" dirty="0"/>
              <a:t>/.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endParaRPr lang="en-US" sz="2800" dirty="0"/>
          </a:p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F6F2B0-2B44-40E6-99B0-7CFF753A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23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51769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C7F58-D33A-40A6-9E13-10B3B02ED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Изображения: перечень классов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43DE24-B96A-4509-8C80-95430FC1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24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2E0C70F5-676F-457E-A287-8F9328F220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760685"/>
              </p:ext>
            </p:extLst>
          </p:nvPr>
        </p:nvGraphicFramePr>
        <p:xfrm>
          <a:off x="0" y="880947"/>
          <a:ext cx="12192000" cy="54041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6149201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754751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95447067"/>
                    </a:ext>
                  </a:extLst>
                </a:gridCol>
              </a:tblGrid>
              <a:tr h="21883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181756434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airplane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Самолёты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727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04483451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Автомобили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968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85207340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Кошки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885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97278626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dog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Собаки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702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048806182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flower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Цветы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843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99112748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fruit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Фрукты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62497632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motorbike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Мотоциклы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922116220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person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Люди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974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29215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50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изображений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1722121" y="878111"/>
            <a:ext cx="10237268" cy="693539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1. </a:t>
            </a:r>
          </a:p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Визуализация распределения классов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327918"/>
              </p:ext>
            </p:extLst>
          </p:nvPr>
        </p:nvGraphicFramePr>
        <p:xfrm>
          <a:off x="0" y="1571651"/>
          <a:ext cx="6429205" cy="4702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9116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b="0" dirty="0">
                          <a:solidFill>
                            <a:schemeClr val="tx1"/>
                          </a:solidFill>
                        </a:rPr>
                        <a:t>Анализ распределения изображений по классам показал, что набор данных обладает хорошей сбалансированностью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b="0" dirty="0">
                          <a:solidFill>
                            <a:schemeClr val="tx1"/>
                          </a:solidFill>
                        </a:rPr>
                        <a:t>Отсутствие необходимости в балансировке упрощает процесс предобработки данных</a:t>
                      </a:r>
                    </a:p>
                  </a:txBody>
                  <a:tcPr marR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3648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dirty="0">
                          <a:solidFill>
                            <a:schemeClr val="tx1"/>
                          </a:solidFill>
                          <a:latin typeface="+mn-lt"/>
                        </a:rPr>
                        <a:t>Построена столбчатая диаграмма распределения количества изображений по классам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930" y="1031650"/>
            <a:ext cx="540000" cy="54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6B82ED-959B-44CA-BE09-2E8C0230AA2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205" y="1914069"/>
            <a:ext cx="5762795" cy="3372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3065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изображений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1600200" y="904394"/>
            <a:ext cx="10363200" cy="60503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2. </a:t>
            </a:r>
          </a:p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Примеры типичных изображений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146443"/>
              </p:ext>
            </p:extLst>
          </p:nvPr>
        </p:nvGraphicFramePr>
        <p:xfrm>
          <a:off x="0" y="1532871"/>
          <a:ext cx="7071360" cy="47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8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7091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noProof="0" dirty="0">
                          <a:solidFill>
                            <a:schemeClr val="tx1"/>
                          </a:solidFill>
                        </a:rPr>
                        <a:t>Изображения в пределах каждой категории демонстрируют достаточную вариативность условий съёмки: присутствуют различные ракурсы, естественное и искусственное освещение, а также разнородные фоны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Разрешение всех просмотренных изображений визуально оценено как достаточное для уверенного распознавания целевых объектов человеком, что является косвенным признаком пригодности данных и для обучения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45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Для визуального ознакомления с содержимым набора данных отображены случайные примеры изображений из каждого класса.</a:t>
                      </a:r>
                      <a:endParaRPr lang="ru-RU" sz="1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78" y="897424"/>
            <a:ext cx="612000" cy="612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1FDDEB-1920-4E23-BFD1-527B0FC4180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440" y="2061844"/>
            <a:ext cx="5242560" cy="3729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7921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изображений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1600200" y="904394"/>
            <a:ext cx="10271760" cy="621507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3. </a:t>
            </a:r>
          </a:p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 размеров и форматов изображений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64567"/>
              </p:ext>
            </p:extLst>
          </p:nvPr>
        </p:nvGraphicFramePr>
        <p:xfrm>
          <a:off x="0" y="1549348"/>
          <a:ext cx="12191999" cy="2443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8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3656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Подавляющее большинство файлов представлено в формате JPEG, около 1,5% – в формате PNG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Размеры изображений варьируются в широком диапазоне: ширина от 150 до 6000 пикселей, высота от 130 до 4000 пикселей.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Среднее соотношение сторон составляет 1,2, что соответствует стандартным пропорциям фотографий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876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Выполнен сбор и статистический анализ геометрических характеристик изображений на выборке из 800 случайных файлов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78" y="897424"/>
            <a:ext cx="612000" cy="612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9F7B0DC-D4FC-4A25-BE67-141777E2298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786" y="4036367"/>
            <a:ext cx="6565494" cy="2194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1015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изображений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1615440" y="897424"/>
            <a:ext cx="10521041" cy="61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4. </a:t>
            </a:r>
          </a:p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 цветовых характеристик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440009"/>
              </p:ext>
            </p:extLst>
          </p:nvPr>
        </p:nvGraphicFramePr>
        <p:xfrm>
          <a:off x="0" y="1525901"/>
          <a:ext cx="12191999" cy="2299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2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3787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noProof="0" dirty="0">
                          <a:solidFill>
                            <a:schemeClr val="tx1"/>
                          </a:solidFill>
                        </a:rPr>
                        <a:t>распределение значений всех трёх цветовых каналов (R, G, B) близко к нормальному со средними значениями в диапазоне 105-120, что свидетельствует об отсутствии систематического сдвига яркости или цветового баланса</a:t>
                      </a:r>
                      <a:endParaRPr lang="ru-RU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552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Выполнен расчет средних значений цветовых каналов RGB на выборке из 200 изображений</a:t>
                      </a:r>
                      <a:endParaRPr lang="ru-RU" sz="22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752" y="897424"/>
            <a:ext cx="616569" cy="612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4118ADB-178C-482F-83F1-5C5C5756EF5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752" y="3841718"/>
            <a:ext cx="7461168" cy="24326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8341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95341"/>
              </p:ext>
            </p:extLst>
          </p:nvPr>
        </p:nvGraphicFramePr>
        <p:xfrm>
          <a:off x="0" y="1596109"/>
          <a:ext cx="6740992" cy="4678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3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6626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Обнаружено минимальное количество дубликатов, что находится в пределах допустимой погрешности и свидетельствует о хорошем качестве предварительной очистки данных автором </a:t>
                      </a:r>
                      <a:r>
                        <a:rPr lang="ru-RU" sz="2200" b="0" dirty="0" err="1">
                          <a:solidFill>
                            <a:schemeClr val="tx1"/>
                          </a:solidFill>
                        </a:rPr>
                        <a:t>датасета</a:t>
                      </a:r>
                      <a:endParaRPr lang="ru-RU" sz="2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1680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Выполнена проверка целостности всех 6899 изображений и поиск дубликатов с помощью хеширования (MD5) уменьшенных копий изображений</a:t>
                      </a:r>
                      <a:endParaRPr lang="ru-RU" sz="2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Нашивка 6"/>
          <p:cNvSpPr/>
          <p:nvPr/>
        </p:nvSpPr>
        <p:spPr>
          <a:xfrm>
            <a:off x="1730348" y="880947"/>
            <a:ext cx="10065412" cy="719253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450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5. </a:t>
            </a:r>
          </a:p>
          <a:p>
            <a:pPr marL="72072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Обнаружение дубликатов и битых изображений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857" y="986528"/>
            <a:ext cx="504000" cy="504000"/>
          </a:xfrm>
          <a:prstGeom prst="rect">
            <a:avLst/>
          </a:prstGeom>
        </p:spPr>
      </p:pic>
      <p:graphicFrame>
        <p:nvGraphicFramePr>
          <p:cNvPr id="5" name="Таблица 9">
            <a:extLst>
              <a:ext uri="{FF2B5EF4-FFF2-40B4-BE49-F238E27FC236}">
                <a16:creationId xmlns:a16="http://schemas.microsoft.com/office/drawing/2014/main" id="{C0470A9A-8999-4203-B5E9-F6F5B2418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479563"/>
              </p:ext>
            </p:extLst>
          </p:nvPr>
        </p:nvGraphicFramePr>
        <p:xfrm>
          <a:off x="6763054" y="2539222"/>
          <a:ext cx="5451008" cy="3017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50808">
                  <a:extLst>
                    <a:ext uri="{9D8B030D-6E8A-4147-A177-3AD203B41FA5}">
                      <a16:colId xmlns:a16="http://schemas.microsoft.com/office/drawing/2014/main" val="34933843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062198334"/>
                    </a:ext>
                  </a:extLst>
                </a:gridCol>
              </a:tblGrid>
              <a:tr h="384160">
                <a:tc>
                  <a:txBody>
                    <a:bodyPr/>
                    <a:lstStyle/>
                    <a:p>
                      <a:r>
                        <a:rPr lang="ru-RU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Показатель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906298"/>
                  </a:ext>
                </a:extLst>
              </a:tr>
              <a:tr h="691488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Всего проверено изображений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6899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705883"/>
                  </a:ext>
                </a:extLst>
              </a:tr>
              <a:tr h="691488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Битые/повреждённые файлы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941883"/>
                  </a:ext>
                </a:extLst>
              </a:tr>
              <a:tr h="38416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Группы дубликатов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278886"/>
                  </a:ext>
                </a:extLst>
              </a:tr>
              <a:tr h="44547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Избыточных дубликатов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(0.14%)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9980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793664-C376-44EE-9DA8-29E45E960163}"/>
              </a:ext>
            </a:extLst>
          </p:cNvPr>
          <p:cNvSpPr txBox="1"/>
          <p:nvPr/>
        </p:nvSpPr>
        <p:spPr>
          <a:xfrm>
            <a:off x="7056120" y="1708225"/>
            <a:ext cx="5031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Результаты проверки целостности и поиска дубликатов</a:t>
            </a:r>
          </a:p>
        </p:txBody>
      </p:sp>
    </p:spTree>
    <p:extLst>
      <p:ext uri="{BB962C8B-B14F-4D97-AF65-F5344CB8AC3E}">
        <p14:creationId xmlns:p14="http://schemas.microsoft.com/office/powerpoint/2010/main" val="211597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216608"/>
              </p:ext>
            </p:extLst>
          </p:nvPr>
        </p:nvGraphicFramePr>
        <p:xfrm>
          <a:off x="-1" y="1645921"/>
          <a:ext cx="1219199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297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a:t>Распределение яркости близко к нормальному с центром в середине диапазона, что указывает на сбалансированные условия освещения в наборе данных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Присутствует незначительное количество слишком тёмных и слишком светлых изображений</a:t>
                      </a:r>
                    </a:p>
                  </a:txBody>
                  <a:tcPr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6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Выполнен расчёт средней яркости и контрастности на выборке из 200 изображений, преобразованных в градации серого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Нашивка 6"/>
          <p:cNvSpPr/>
          <p:nvPr/>
        </p:nvSpPr>
        <p:spPr>
          <a:xfrm>
            <a:off x="1730348" y="880947"/>
            <a:ext cx="10217812" cy="764973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450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6. </a:t>
            </a:r>
          </a:p>
          <a:p>
            <a:pPr marL="72072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 яркости и контрастности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770" y="935021"/>
            <a:ext cx="656825" cy="6568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9F2806-2F72-4B59-B9B5-FB5FBC9353C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682" y="4251961"/>
            <a:ext cx="7160118" cy="20224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554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A036D-305B-4FD7-9D5C-BE1DF26E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Изображения: выводы по главе 3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B642AD-E169-4C8D-8096-94D775777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В ходе анализа выявлены следующие особенности: размеры изображений варьируются в широком диапазоне (от 150×130 до 6000×4000 пикселей), что требует приведения к единому разрешению; обнаружено незначительное количество дубликатов (0,14%), которые рекомендуется удалить; присутствуют единичные изображения с экстремальной яркостью, требующие коррекции гистограммы. Классы хорошо сбалансированы (соотношение максимума к минимуму 1,42), каждый класс занимает от 10,2% до 14,5% общего объёма. Повреждённые файлы не обнаружены.</a:t>
            </a:r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Набор данных полностью пригоден для построения модели </a:t>
            </a:r>
            <a:r>
              <a:rPr lang="ru-RU" sz="2400" dirty="0" err="1"/>
              <a:t>многоклассовой</a:t>
            </a:r>
            <a:r>
              <a:rPr lang="ru-RU" sz="2400" dirty="0"/>
              <a:t> классификации изображений. Рекомендуется выполнить нормализацию размеров, удаление дубликатов, стандартизацию значений пикселей, аугментацию данных, а также использовать </a:t>
            </a:r>
            <a:r>
              <a:rPr lang="ru-RU" sz="2400" dirty="0" err="1"/>
              <a:t>transfer</a:t>
            </a:r>
            <a:r>
              <a:rPr lang="ru-RU" sz="2400" dirty="0"/>
              <a:t> </a:t>
            </a:r>
            <a:r>
              <a:rPr lang="ru-RU" sz="2400" dirty="0" err="1"/>
              <a:t>learning</a:t>
            </a:r>
            <a:r>
              <a:rPr lang="ru-RU" sz="2400" dirty="0"/>
              <a:t> с </a:t>
            </a:r>
            <a:r>
              <a:rPr lang="ru-RU" sz="2400" dirty="0" err="1"/>
              <a:t>предобученными</a:t>
            </a:r>
            <a:r>
              <a:rPr lang="ru-RU" sz="2400" dirty="0"/>
              <a:t> на </a:t>
            </a:r>
            <a:r>
              <a:rPr lang="ru-RU" sz="2400" dirty="0" err="1"/>
              <a:t>ImageNet</a:t>
            </a:r>
            <a:r>
              <a:rPr lang="ru-RU" sz="2400" dirty="0"/>
              <a:t> моделями для достижения высокого качества классификации.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BCD5FE-F849-40CF-97E9-642EA198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31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655211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4E6FE-6B26-4844-B5DE-D2A47307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Текстовые данные: задача и описание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9ED49-EC10-4B17-84EA-5838125D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0948"/>
            <a:ext cx="12188283" cy="5393468"/>
          </a:xfrm>
        </p:spPr>
        <p:txBody>
          <a:bodyPr/>
          <a:lstStyle/>
          <a:p>
            <a:pPr marL="357188" indent="-357188"/>
            <a:r>
              <a:rPr lang="ru-RU" b="1" dirty="0"/>
              <a:t>Задача: </a:t>
            </a:r>
            <a:r>
              <a:rPr lang="ru-RU" dirty="0"/>
              <a:t>бинарная классификация токсичных комментариев</a:t>
            </a:r>
          </a:p>
          <a:p>
            <a:pPr marL="357188" indent="-357188"/>
            <a:r>
              <a:rPr lang="ru-RU" b="1" dirty="0"/>
              <a:t>Набор данных: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Название, источник: </a:t>
            </a:r>
            <a:r>
              <a:rPr lang="en-US" sz="2800" dirty="0"/>
              <a:t>Russian Language Toxic Comments Dataset</a:t>
            </a:r>
            <a:r>
              <a:rPr lang="ru-RU" sz="2800" dirty="0"/>
              <a:t>, </a:t>
            </a:r>
            <a:r>
              <a:rPr lang="en-US" sz="2800" dirty="0"/>
              <a:t>Kaggle Datasets</a:t>
            </a:r>
            <a:r>
              <a:rPr lang="ru-RU" sz="2800" dirty="0"/>
              <a:t>.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URL:</a:t>
            </a:r>
            <a:r>
              <a:rPr lang="ru-RU" sz="2800" dirty="0"/>
              <a:t> </a:t>
            </a:r>
            <a:r>
              <a:rPr lang="en-US" sz="2800" dirty="0"/>
              <a:t>https://www.kaggle.com/datasets/blackmoon/russian-language-toxic-comments</a:t>
            </a:r>
            <a:endParaRPr lang="ru-RU" sz="2800" dirty="0"/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Входные данные: </a:t>
            </a:r>
            <a:r>
              <a:rPr lang="ru-RU" sz="2800" dirty="0"/>
              <a:t>тексты комментариев на русском языке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/>
              <a:t>Предметная область: </a:t>
            </a:r>
            <a:r>
              <a:rPr lang="ru-RU" sz="2800" dirty="0"/>
              <a:t>обработка естественного языка, модерация контента, безопасность в интернете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8E8E86-6C0B-4430-BEB2-35880124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32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524706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08B126-16F3-4244-BB04-27E5CD41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Текстовые данные: структура данных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B2827E91-3936-4443-9AB1-FCB93B109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673763"/>
              </p:ext>
            </p:extLst>
          </p:nvPr>
        </p:nvGraphicFramePr>
        <p:xfrm>
          <a:off x="104082" y="1278526"/>
          <a:ext cx="6489643" cy="2194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622120481"/>
                    </a:ext>
                  </a:extLst>
                </a:gridCol>
                <a:gridCol w="2057317">
                  <a:extLst>
                    <a:ext uri="{9D8B030D-6E8A-4147-A177-3AD203B41FA5}">
                      <a16:colId xmlns:a16="http://schemas.microsoft.com/office/drawing/2014/main" val="2192055165"/>
                    </a:ext>
                  </a:extLst>
                </a:gridCol>
                <a:gridCol w="1483530">
                  <a:extLst>
                    <a:ext uri="{9D8B030D-6E8A-4147-A177-3AD203B41FA5}">
                      <a16:colId xmlns:a16="http://schemas.microsoft.com/office/drawing/2014/main" val="1198055342"/>
                    </a:ext>
                  </a:extLst>
                </a:gridCol>
                <a:gridCol w="1881996">
                  <a:extLst>
                    <a:ext uri="{9D8B030D-6E8A-4147-A177-3AD203B41FA5}">
                      <a16:colId xmlns:a16="http://schemas.microsoft.com/office/drawing/2014/main" val="2953024799"/>
                    </a:ext>
                  </a:extLst>
                </a:gridCol>
              </a:tblGrid>
              <a:tr h="489426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Признак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Семантика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Тип данных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Примеры значений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691501"/>
                  </a:ext>
                </a:extLst>
              </a:tr>
              <a:tr h="69918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text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Текст комментария на русском языке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Строковый (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str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"Спасибо за интересную статью"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168851"/>
                  </a:ext>
                </a:extLst>
              </a:tr>
              <a:tr h="489426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toxic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Метка токсичности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Целочисленный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0 (нетоксичный), 1 (токсичный)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09084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8F1F04-560E-44D0-B78B-230D4593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33</a:t>
            </a:fld>
            <a:r>
              <a:rPr lang="ru-RU" altLang="ru-RU" dirty="0"/>
              <a:t>/</a:t>
            </a:r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40</a:t>
            </a:r>
            <a:endParaRPr lang="ru-RU" alt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FE791-2F86-4AFB-99A6-408DC28EEA8F}"/>
              </a:ext>
            </a:extLst>
          </p:cNvPr>
          <p:cNvSpPr txBox="1"/>
          <p:nvPr/>
        </p:nvSpPr>
        <p:spPr>
          <a:xfrm>
            <a:off x="104082" y="3746538"/>
            <a:ext cx="6489643" cy="2294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220980" algn="just"/>
            <a:r>
              <a:rPr lang="ru-RU" sz="2400" b="1" dirty="0">
                <a:effectLst/>
                <a:latin typeface="+mn-lt"/>
                <a:ea typeface="Times New Roman" panose="02020603050405020304" pitchFamily="18" charset="0"/>
              </a:rPr>
              <a:t>Структура данных:</a:t>
            </a:r>
            <a:endParaRPr lang="ru-RU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+mn-lt"/>
                <a:ea typeface="Times New Roman" panose="02020603050405020304" pitchFamily="18" charset="0"/>
              </a:rPr>
              <a:t>Общее количество записей: 15933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+mn-lt"/>
                <a:ea typeface="Times New Roman" panose="02020603050405020304" pitchFamily="18" charset="0"/>
              </a:rPr>
              <a:t>Количество классов: 2 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ru-RU" sz="2400" dirty="0">
                <a:latin typeface="+mn-lt"/>
                <a:ea typeface="Times New Roman" panose="02020603050405020304" pitchFamily="18" charset="0"/>
              </a:rPr>
              <a:t>    </a:t>
            </a:r>
            <a:r>
              <a:rPr lang="ru-RU" sz="2400" dirty="0">
                <a:effectLst/>
                <a:latin typeface="+mn-lt"/>
                <a:ea typeface="Times New Roman" panose="02020603050405020304" pitchFamily="18" charset="0"/>
              </a:rPr>
              <a:t>(0 - нетоксичный, 1 - токсичный)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+mn-lt"/>
                <a:ea typeface="Times New Roman" panose="02020603050405020304" pitchFamily="18" charset="0"/>
              </a:rPr>
              <a:t>Формат хранения: CSV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ru-RU" sz="2400" dirty="0"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+mn-lt"/>
                <a:ea typeface="Times New Roman" panose="02020603050405020304" pitchFamily="18" charset="0"/>
              </a:rPr>
              <a:t>Признаки: 2 (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text</a:t>
            </a:r>
            <a:r>
              <a:rPr lang="ru-RU" sz="24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toxic</a:t>
            </a:r>
            <a:r>
              <a:rPr lang="ru-RU" sz="2400" dirty="0">
                <a:effectLst/>
                <a:latin typeface="+mn-lt"/>
                <a:ea typeface="Times New Roman" panose="02020603050405020304" pitchFamily="18" charset="0"/>
              </a:rPr>
              <a:t>) </a:t>
            </a:r>
            <a:endParaRPr lang="ru-RU" sz="2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8B1C1-5D10-4581-80E2-FF01B1655D38}"/>
              </a:ext>
            </a:extLst>
          </p:cNvPr>
          <p:cNvSpPr txBox="1"/>
          <p:nvPr/>
        </p:nvSpPr>
        <p:spPr>
          <a:xfrm>
            <a:off x="6697807" y="990601"/>
            <a:ext cx="54941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Анализ наличия персональных данных: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Персональные данные в наборе данных отсутствуют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Датасет</a:t>
            </a:r>
            <a:r>
              <a:rPr lang="ru-RU" sz="2400" dirty="0"/>
              <a:t> прошел предварительную очистку от любых идентифицирующих сведений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Набор данных может использоваться без дополнительной анонимизации, что подтверждает его безопасность для учебных и исследовательских целей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B20E5-0996-4AF1-A334-6B1F11B4A10B}"/>
              </a:ext>
            </a:extLst>
          </p:cNvPr>
          <p:cNvSpPr txBox="1"/>
          <p:nvPr/>
        </p:nvSpPr>
        <p:spPr>
          <a:xfrm>
            <a:off x="104082" y="816861"/>
            <a:ext cx="4973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Перечень признаков набора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1015181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текстовых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6" name="Пятиугольник 5"/>
          <p:cNvSpPr/>
          <p:nvPr/>
        </p:nvSpPr>
        <p:spPr>
          <a:xfrm>
            <a:off x="1447800" y="880948"/>
            <a:ext cx="10530840" cy="58811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1. </a:t>
            </a:r>
            <a:b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Загрузка данных и первичное знакомство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385976"/>
              </p:ext>
            </p:extLst>
          </p:nvPr>
        </p:nvGraphicFramePr>
        <p:xfrm>
          <a:off x="0" y="1469058"/>
          <a:ext cx="6659880" cy="4741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7337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b="0" baseline="0" dirty="0">
                          <a:solidFill>
                            <a:schemeClr val="tx1"/>
                          </a:solidFill>
                        </a:rPr>
                        <a:t>Загрузка данных выполнена без ошибок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b="0" dirty="0">
                          <a:solidFill>
                            <a:schemeClr val="tx1"/>
                          </a:solidFill>
                        </a:rPr>
                        <a:t>Пропущенные значения на данном этапе   не обнаружены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b="0" dirty="0">
                          <a:solidFill>
                            <a:schemeClr val="tx1"/>
                          </a:solidFill>
                        </a:rPr>
                        <a:t>Все тексты представлены на русском     языке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b="0" dirty="0">
                          <a:solidFill>
                            <a:schemeClr val="tx1"/>
                          </a:solidFill>
                        </a:rPr>
                        <a:t>Наблюдается дисбаланс классов: нетоксичные комментарии составляют 74.5 процента, токсичные – 25.5 процента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658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100" dirty="0">
                          <a:solidFill>
                            <a:schemeClr val="tx1"/>
                          </a:solidFill>
                          <a:latin typeface="+mn-lt"/>
                        </a:rPr>
                        <a:t>Данные загружены из CSV-файлов, скачанных с </a:t>
                      </a:r>
                      <a:r>
                        <a:rPr lang="ru-RU" sz="2100" dirty="0" err="1">
                          <a:solidFill>
                            <a:schemeClr val="tx1"/>
                          </a:solidFill>
                          <a:latin typeface="+mn-lt"/>
                        </a:rPr>
                        <a:t>Kaggle</a:t>
                      </a:r>
                      <a:r>
                        <a:rPr lang="ru-RU" sz="2100" dirty="0">
                          <a:solidFill>
                            <a:schemeClr val="tx1"/>
                          </a:solidFill>
                          <a:latin typeface="+mn-lt"/>
                        </a:rPr>
                        <a:t>. Обучающая выборка содержит 14268 комментариев, тестовая – 1665 комментариев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08" y="760521"/>
            <a:ext cx="648000" cy="648000"/>
          </a:xfrm>
          <a:prstGeom prst="rect">
            <a:avLst/>
          </a:prstGeom>
        </p:spPr>
      </p:pic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C0C281DB-BB48-43EC-B4B4-2B920F192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110908"/>
              </p:ext>
            </p:extLst>
          </p:nvPr>
        </p:nvGraphicFramePr>
        <p:xfrm>
          <a:off x="6710682" y="1469058"/>
          <a:ext cx="5481318" cy="47934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3598">
                  <a:extLst>
                    <a:ext uri="{9D8B030D-6E8A-4147-A177-3AD203B41FA5}">
                      <a16:colId xmlns:a16="http://schemas.microsoft.com/office/drawing/2014/main" val="3686111869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92686933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511468658"/>
                    </a:ext>
                  </a:extLst>
                </a:gridCol>
              </a:tblGrid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 комментария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Метка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800796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Спасибо за интересную статью, очень познавательно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012745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Ты полный идиот, ничего не понимаешь в этой теме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170071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Интересная точка зрения, хотя я не совсем согласен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498997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 пошел ты со своими глупыми советами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495178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Хорошая подборка материалов, буду ждать продолжения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451216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Какая же это бездарность, автор явно не в теме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10794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Спорный вопрос, но аргументы приведены убедительные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94729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Заткнись, никого не интересует твое мнение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33505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Прекрасный пост, очень актуальная тема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95600"/>
                  </a:ext>
                </a:extLst>
              </a:tr>
              <a:tr h="431005">
                <a:tc>
                  <a:txBody>
                    <a:bodyPr/>
                    <a:lstStyle/>
                    <a:p>
                      <a:r>
                        <a:rPr lang="ru-RU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Убей себя об стену, такое нельзя публиковать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88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120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текстовых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1615441" y="880947"/>
            <a:ext cx="10343948" cy="799932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2. </a:t>
            </a:r>
          </a:p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 баланса классов и разнообразия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407765"/>
              </p:ext>
            </p:extLst>
          </p:nvPr>
        </p:nvGraphicFramePr>
        <p:xfrm>
          <a:off x="0" y="1680879"/>
          <a:ext cx="121920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Анализ баланса классов показал следующие результаты. Нетоксичных комментариев: 10627 штук, что составляет 74.5 процента от общего объема обучающей выборки. Токсичных комментариев: 3641 штука, что составляет 25.5 процента от общего объема обучающей выборки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Общий вывод по балансу: </a:t>
                      </a:r>
                      <a:r>
                        <a:rPr lang="ru-RU" sz="2000" b="0" dirty="0" err="1">
                          <a:solidFill>
                            <a:schemeClr val="tx1"/>
                          </a:solidFill>
                        </a:rPr>
                        <a:t>датасет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 обладает заметным дисбалансом классов – нетоксичных комментариев почти в три раза больше, чем токсичных</a:t>
                      </a:r>
                    </a:p>
                  </a:txBody>
                  <a:tcPr marR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latin typeface="+mn-lt"/>
                        </a:rPr>
                        <a:t>Были построены таблица баланса классов в обучающей и текстовой выборках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50" y="917321"/>
            <a:ext cx="540000" cy="540000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E0E49B4-49B3-44A0-B734-EC214596F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35409"/>
              </p:ext>
            </p:extLst>
          </p:nvPr>
        </p:nvGraphicFramePr>
        <p:xfrm>
          <a:off x="2301240" y="4302159"/>
          <a:ext cx="7498080" cy="194473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9878">
                  <a:extLst>
                    <a:ext uri="{9D8B030D-6E8A-4147-A177-3AD203B41FA5}">
                      <a16:colId xmlns:a16="http://schemas.microsoft.com/office/drawing/2014/main" val="3007708849"/>
                    </a:ext>
                  </a:extLst>
                </a:gridCol>
                <a:gridCol w="2079162">
                  <a:extLst>
                    <a:ext uri="{9D8B030D-6E8A-4147-A177-3AD203B41FA5}">
                      <a16:colId xmlns:a16="http://schemas.microsoft.com/office/drawing/2014/main" val="263941734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1249999566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233108129"/>
                    </a:ext>
                  </a:extLst>
                </a:gridCol>
              </a:tblGrid>
              <a:tr h="648245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Выборка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Нетоксичные (0)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Токсичные (1)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</a:rPr>
                        <a:t>Всего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3508"/>
                  </a:ext>
                </a:extLst>
              </a:tr>
              <a:tr h="648245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Обучающая 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10627 (74.5%)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3641 (25.5%)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14268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406987"/>
                  </a:ext>
                </a:extLst>
              </a:tr>
              <a:tr h="648245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Тестовая 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1210 (72.7%)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455 (27.3%)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1665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71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008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текстовых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1615441" y="880947"/>
            <a:ext cx="10343948" cy="799932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2. </a:t>
            </a:r>
          </a:p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 баланса классов и разнообразия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57379"/>
              </p:ext>
            </p:extLst>
          </p:nvPr>
        </p:nvGraphicFramePr>
        <p:xfrm>
          <a:off x="0" y="1680879"/>
          <a:ext cx="6217920" cy="459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5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368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</a:rPr>
                        <a:t>Минимальное количество символов в комментарии составляет 2 символа. Максимальное количество символов составляет 2854 символа. Средняя длина текста составляет 287 символов. Минимальное количество слов составляет 1 слово. Максимальное количество слов составляет 487 слов. Среднее количество слов составляет 48.2 слова.</a:t>
                      </a:r>
                    </a:p>
                  </a:txBody>
                  <a:tcPr marR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848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latin typeface="+mn-lt"/>
                        </a:rPr>
                        <a:t>Были построены таблица статистики текстов по классам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50" y="917321"/>
            <a:ext cx="540000" cy="540000"/>
          </a:xfrm>
          <a:prstGeom prst="rect">
            <a:avLst/>
          </a:prstGeom>
        </p:spPr>
      </p:pic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92B3D0A4-807D-4D9E-ACDE-48DBD8F51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290880"/>
              </p:ext>
            </p:extLst>
          </p:nvPr>
        </p:nvGraphicFramePr>
        <p:xfrm>
          <a:off x="6217920" y="1680880"/>
          <a:ext cx="5974080" cy="45817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428401215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412743267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148377175"/>
                    </a:ext>
                  </a:extLst>
                </a:gridCol>
              </a:tblGrid>
              <a:tr h="466901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Показатель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Нетоксичные (0)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Токсичные (1)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942512"/>
                  </a:ext>
                </a:extLst>
              </a:tr>
              <a:tr h="34038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записей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10627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3641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45234"/>
                  </a:ext>
                </a:extLst>
              </a:tr>
              <a:tr h="595665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 длина (символы)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265.3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342.8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177081"/>
                  </a:ext>
                </a:extLst>
              </a:tr>
              <a:tr h="595665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Стандартное отклонение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178.2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245.6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584473"/>
                  </a:ext>
                </a:extLst>
              </a:tr>
              <a:tr h="34038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Минимум (символы)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396074"/>
                  </a:ext>
                </a:extLst>
              </a:tr>
              <a:tr h="34038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25-й процентный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821308"/>
                  </a:ext>
                </a:extLst>
              </a:tr>
              <a:tr h="34038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50-й процентный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52444"/>
                  </a:ext>
                </a:extLst>
              </a:tr>
              <a:tr h="34038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75-й процентный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406"/>
                  </a:ext>
                </a:extLst>
              </a:tr>
              <a:tr h="34038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Максимум (символы)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2543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2854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780403"/>
                  </a:ext>
                </a:extLst>
              </a:tr>
              <a:tr h="595665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 количество слов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44.5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58.3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74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916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текстовых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1646244" y="904394"/>
            <a:ext cx="10225716" cy="61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3. </a:t>
            </a:r>
          </a:p>
          <a:p>
            <a:pPr marL="363538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 качества разметки и противоречий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806876"/>
              </p:ext>
            </p:extLst>
          </p:nvPr>
        </p:nvGraphicFramePr>
        <p:xfrm>
          <a:off x="0" y="1539841"/>
          <a:ext cx="6949440" cy="4734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8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9235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</a:rPr>
                        <a:t>Качество разметки является высоким. Доля потенциальных противоречий составляет 2.3 процента, что ниже критического порога в 5 процентов. Обнаруженные сложные случаи связаны преимущественно с сарказмом, иронией и скрытой агрессией, что представляет собой сложную лингвистическую задачу даже для современных моделей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5338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Проведен анализ на наличие противоречий – комментариев, где лексика не соответствует метке токсичности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78" y="880947"/>
            <a:ext cx="612000" cy="612000"/>
          </a:xfrm>
          <a:prstGeom prst="rect">
            <a:avLst/>
          </a:prstGeom>
        </p:spPr>
      </p:pic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BE60844E-0848-4AFE-8B4A-547A4B34A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584948"/>
              </p:ext>
            </p:extLst>
          </p:nvPr>
        </p:nvGraphicFramePr>
        <p:xfrm>
          <a:off x="6949440" y="2175288"/>
          <a:ext cx="5242560" cy="25814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97498">
                  <a:extLst>
                    <a:ext uri="{9D8B030D-6E8A-4147-A177-3AD203B41FA5}">
                      <a16:colId xmlns:a16="http://schemas.microsoft.com/office/drawing/2014/main" val="1743527907"/>
                    </a:ext>
                  </a:extLst>
                </a:gridCol>
                <a:gridCol w="2845062">
                  <a:extLst>
                    <a:ext uri="{9D8B030D-6E8A-4147-A177-3AD203B41FA5}">
                      <a16:colId xmlns:a16="http://schemas.microsoft.com/office/drawing/2014/main" val="1396893142"/>
                    </a:ext>
                  </a:extLst>
                </a:gridCol>
              </a:tblGrid>
              <a:tr h="363587">
                <a:tc>
                  <a:txBody>
                    <a:bodyPr/>
                    <a:lstStyle/>
                    <a:p>
                      <a:pPr algn="ctr"/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</a:rPr>
                        <a:t>Показатель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kern="1200">
                          <a:solidFill>
                            <a:schemeClr val="lt1"/>
                          </a:solidFill>
                          <a:effectLst/>
                        </a:rPr>
                        <a:t>Значение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52425"/>
                  </a:ext>
                </a:extLst>
              </a:tr>
              <a:tr h="363587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>
                          <a:solidFill>
                            <a:schemeClr val="dk1"/>
                          </a:solidFill>
                          <a:effectLst/>
                        </a:rPr>
                        <a:t>Проверено примеров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>
                          <a:solidFill>
                            <a:schemeClr val="dk1"/>
                          </a:solidFill>
                          <a:effectLst/>
                        </a:rPr>
                        <a:t>1000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80781"/>
                  </a:ext>
                </a:extLst>
              </a:tr>
              <a:tr h="618097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>
                          <a:solidFill>
                            <a:schemeClr val="dk1"/>
                          </a:solidFill>
                          <a:effectLst/>
                        </a:rPr>
                        <a:t>Обнаружено потенциальных противоречий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23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565998"/>
                  </a:ext>
                </a:extLst>
              </a:tr>
              <a:tr h="618097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>
                          <a:solidFill>
                            <a:schemeClr val="dk1"/>
                          </a:solidFill>
                          <a:effectLst/>
                        </a:rPr>
                        <a:t>Доля противоречий, процентов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2.3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124199"/>
                  </a:ext>
                </a:extLst>
              </a:tr>
              <a:tr h="618097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>
                          <a:solidFill>
                            <a:schemeClr val="dk1"/>
                          </a:solidFill>
                          <a:effectLst/>
                        </a:rPr>
                        <a:t>Характер противоречий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Сарказм, скрытая агрессия, двусмысленные выражения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68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333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63FBCF-7873-4A49-B36C-1F912BB77786}" type="slidenum">
              <a:rPr kumimoji="0" lang="ru-RU" altLang="ru-RU" sz="2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r>
              <a:rPr kumimoji="0" lang="ru-RU" altLang="ru-RU" sz="2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/40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1569720" y="897424"/>
            <a:ext cx="10566761" cy="61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Шаг 4. </a:t>
            </a:r>
          </a:p>
          <a:p>
            <a:pPr marL="447675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Частотный анализ и стоп-слова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699866"/>
              </p:ext>
            </p:extLst>
          </p:nvPr>
        </p:nvGraphicFramePr>
        <p:xfrm>
          <a:off x="0" y="1509424"/>
          <a:ext cx="12192000" cy="180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6656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noProof="0" dirty="0">
                          <a:solidFill>
                            <a:schemeClr val="tx1"/>
                          </a:solidFill>
                        </a:rPr>
                        <a:t>Токсичные комментарии содержат обширный набор оскорбительной лексики и агрессивных конструкций. Преобладает лексика с явно негативной, оскорбительной и агрессивной окраской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noProof="0" dirty="0">
                          <a:solidFill>
                            <a:schemeClr val="tx1"/>
                          </a:solidFill>
                        </a:rPr>
                        <a:t>Нетоксичные комментарии характеризуются вежливой, нейтральной или позитивной лексикой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6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Для понимания лексического состава данных выполнен частотный анализ слов в токсичных и нетоксичных комментариях после удаления стоп-слов и приведения всех слов к нижнему регистру</a:t>
                      </a:r>
                      <a:endParaRPr lang="ru-RU" sz="1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632" y="897424"/>
            <a:ext cx="616569" cy="612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185909-37A3-4830-86A9-C40B57596E5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916" y="3309444"/>
            <a:ext cx="7366244" cy="2964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8763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A6EB3-51EF-48BB-9B5E-C49DE40D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Текстовые данные: вывод по главе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AC918-E4CF-499E-8BE2-28A97232B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251677"/>
          </a:xfrm>
        </p:spPr>
        <p:txBody>
          <a:bodyPr/>
          <a:lstStyle/>
          <a:p>
            <a:r>
              <a:rPr lang="ru-RU" sz="2400" dirty="0"/>
              <a:t>Выявлен существенный дисбаланс классов: нетоксичные комментарии составляют 74,5%, токсичные – 25,5%. Это требует применения специальных методов борьбы с дисбалансом при обучении модели. Токсичные комментарии в среднем длиннее нетоксичных (343 символа против 265), что объясняется необходимостью развернутого выражения агрессии. Качество ручной разметки высокое – доля противоречий составляет 2,3% (ниже критического порога 5%). Персональные данные в </a:t>
            </a:r>
            <a:r>
              <a:rPr lang="ru-RU" sz="2400" dirty="0" err="1"/>
              <a:t>датасете</a:t>
            </a:r>
            <a:r>
              <a:rPr lang="ru-RU" sz="2400" dirty="0"/>
              <a:t> отсутствуют, что подтверждает его безопасность для использования.</a:t>
            </a:r>
          </a:p>
          <a:p>
            <a:r>
              <a:rPr lang="ru-RU" sz="2400" dirty="0"/>
              <a:t>Рекомендации по использованию </a:t>
            </a:r>
            <a:r>
              <a:rPr lang="ru-RU" sz="2400" dirty="0" err="1"/>
              <a:t>датасета</a:t>
            </a:r>
            <a:r>
              <a:rPr lang="ru-RU" sz="2400" dirty="0"/>
              <a:t>: во-первых, обязательно применение методов борьбы с дисбалансом классов – взвешивание классов в функции </a:t>
            </a:r>
            <a:r>
              <a:rPr lang="ru-RU" sz="2400" dirty="0" err="1"/>
              <a:t>потерь.Во</a:t>
            </a:r>
            <a:r>
              <a:rPr lang="ru-RU" sz="2400" dirty="0"/>
              <a:t>-вторых, при предобработке текстов выполнить приведение к нижнему регистру, удаление знаков препинания и удаление стоп-слов. </a:t>
            </a:r>
          </a:p>
          <a:p>
            <a:r>
              <a:rPr lang="ru-RU" sz="2400" dirty="0"/>
              <a:t>Таким образом, набор данных полностью пригоден для решения задачи бинарной классификации токсичных комментариев.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7CB422-7906-4DFF-A05C-D5162729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7473" y="6284575"/>
            <a:ext cx="1360446" cy="588110"/>
          </a:xfrm>
        </p:spPr>
        <p:txBody>
          <a:bodyPr/>
          <a:lstStyle/>
          <a:p>
            <a:fld id="{D063FBCF-7873-4A49-B36C-1F912BB77786}" type="slidenum">
              <a:rPr lang="ru-RU" altLang="ru-RU" smtClean="0"/>
              <a:pPr/>
              <a:t>39</a:t>
            </a:fld>
            <a:r>
              <a:rPr lang="ru-RU" altLang="ru-RU" dirty="0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494651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результаты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подготовлено краткое описание выбранной задачи ИИ для каждого типа данных (таблицы, временные ряды, изображения, тексты);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подобраны наборы данных из открытых источников;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реализован комплекс программ на языке Python для первичного анализа;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сформулированы рекомендации по предобработке данных;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размещен исходный код в Git-репозитории: </a:t>
            </a:r>
            <a:r>
              <a:rPr lang="en-US" dirty="0"/>
              <a:t>https://github.com/darakugeneva-ux/Course-Project.git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40</a:t>
            </a:fld>
            <a:r>
              <a:rPr lang="ru-RU" altLang="ru-RU" dirty="0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5727608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11085</TotalTime>
  <Words>3564</Words>
  <Application>Microsoft Office PowerPoint</Application>
  <PresentationFormat>Широкоэкранный</PresentationFormat>
  <Paragraphs>598</Paragraphs>
  <Slides>40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Courier New</vt:lpstr>
      <vt:lpstr>Menlo</vt:lpstr>
      <vt:lpstr>quote-cjk-patch</vt:lpstr>
      <vt:lpstr>Symbol</vt:lpstr>
      <vt:lpstr>Times New Roman</vt:lpstr>
      <vt:lpstr>Тема Office</vt:lpstr>
      <vt:lpstr>Поиск и первичный анализ наборов данных  по различным областям применения</vt:lpstr>
      <vt:lpstr>Актуальность: необходимость первичного анализа</vt:lpstr>
      <vt:lpstr>Табличные данные: задача и описание данных</vt:lpstr>
      <vt:lpstr>Табличные данные: практическая значимость</vt:lpstr>
      <vt:lpstr>Табличные данные: атрибуты</vt:lpstr>
      <vt:lpstr>Анализ табличных данных: пропуски, выбросы и дубликаты </vt:lpstr>
      <vt:lpstr>Анализ табличных данных</vt:lpstr>
      <vt:lpstr>Анализ табличных данных</vt:lpstr>
      <vt:lpstr>Анализ табличных данных</vt:lpstr>
      <vt:lpstr>Анализ табличных данных</vt:lpstr>
      <vt:lpstr>Анализ табличных данных</vt:lpstr>
      <vt:lpstr>Табличные данные: рекомендации</vt:lpstr>
      <vt:lpstr>Табличные данные: выводы по главе 1</vt:lpstr>
      <vt:lpstr>Временные ряды: задача и описание данных</vt:lpstr>
      <vt:lpstr>Временные ряды: атрибуты и структура данных</vt:lpstr>
      <vt:lpstr>    Анализ временных рядов</vt:lpstr>
      <vt:lpstr>Анализ временных рядов</vt:lpstr>
      <vt:lpstr>Анализ временных рядов</vt:lpstr>
      <vt:lpstr>Анализ временных рядов</vt:lpstr>
      <vt:lpstr>Анализ временных рядов</vt:lpstr>
      <vt:lpstr>Анализ временных рядов</vt:lpstr>
      <vt:lpstr>Временные ряды: выводы по главе 2</vt:lpstr>
      <vt:lpstr>Изображения: задача и описание данных</vt:lpstr>
      <vt:lpstr>Изображения: перечень классов</vt:lpstr>
      <vt:lpstr>Анализ изображений</vt:lpstr>
      <vt:lpstr>Анализ изображений</vt:lpstr>
      <vt:lpstr>Анализ изображений</vt:lpstr>
      <vt:lpstr>Анализ изображений</vt:lpstr>
      <vt:lpstr>Анализ временных рядов</vt:lpstr>
      <vt:lpstr>Анализ временных рядов</vt:lpstr>
      <vt:lpstr>Изображения: выводы по главе 3 </vt:lpstr>
      <vt:lpstr>Текстовые данные: задача и описание данных</vt:lpstr>
      <vt:lpstr>Текстовые данные: структура данных</vt:lpstr>
      <vt:lpstr>Анализ текстовых данных</vt:lpstr>
      <vt:lpstr>Анализ текстовых данных</vt:lpstr>
      <vt:lpstr>Анализ текстовых данных</vt:lpstr>
      <vt:lpstr>Анализ текстовых данных</vt:lpstr>
      <vt:lpstr>Анализ временных рядов</vt:lpstr>
      <vt:lpstr>Текстовые данные: вывод по главе 4</vt:lpstr>
      <vt:lpstr>Основные 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Assistant</dc:creator>
  <cp:lastModifiedBy>Даша Кугенева</cp:lastModifiedBy>
  <cp:revision>772</cp:revision>
  <dcterms:created xsi:type="dcterms:W3CDTF">2020-05-09T18:58:00Z</dcterms:created>
  <dcterms:modified xsi:type="dcterms:W3CDTF">2026-06-10T00:30:17Z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C0E50868B26E49E4B9BCA8205F4B272E_13</vt:lpwstr>
  </property>
  <property fmtid="{D5CDD505-2E9C-101B-9397-08002B2CF9AE}" pid="3" name="KSOProductBuildVer">
    <vt:lpwstr>1049-12.2.0.17119</vt:lpwstr>
  </property>
</Properties>
</file>